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image" Target="../media/image-2-2.png"/><Relationship Id="rId10" Type="http://schemas.openxmlformats.org/officeDocument/2006/relationships/image" Target="../media/image-2-2.png"/><Relationship Id="rId11" Type="http://schemas.openxmlformats.org/officeDocument/2006/relationships/image" Target="../media/image-2-2.png"/><Relationship Id="rId12" Type="http://schemas.openxmlformats.org/officeDocument/2006/relationships/image" Target="../media/image-2-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3.png"/><Relationship Id="rId5" Type="http://schemas.openxmlformats.org/officeDocument/2006/relationships/image" Target="../media/image-15-3.png"/><Relationship Id="rId6" Type="http://schemas.openxmlformats.org/officeDocument/2006/relationships/image" Target="../media/image-15-3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6195d4f6f69d163540a7b11f1e76299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0"/>
            <a:ext cx="57607" cy="10287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1695" y="571500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37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GrowthAI</a:t>
            </a:r>
            <a:pPr algn="l" indent="0" marL="0">
              <a:buNone/>
            </a:pPr>
            <a:r>
              <a:rPr lang="en-US" sz="2400" b="1" spc="-37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pPr algn="l" indent="0" marL="0">
              <a:buNone/>
            </a:pPr>
            <a:r>
              <a:rPr lang="en-US" sz="2400" b="1" spc="-37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kr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61695" y="1047902"/>
            <a:ext cx="3048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· KOREAN LAUNCH PROTOCOL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6057778" y="544982"/>
            <a:ext cx="1666951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사업계획서 v1.0</a:t>
            </a:r>
            <a:pPr algn="r" indent="0" marL="0">
              <a:lnSpc>
                <a:spcPts val="1680"/>
              </a:lnSpc>
              <a:buNone/>
            </a:pPr>
            <a:endParaRPr lang="en-US" sz="1000" dirty="0"/>
          </a:p>
          <a:p>
            <a:pPr algn="r" indent="0" marL="0">
              <a:lnSpc>
                <a:spcPts val="168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2026.07 · STRATEGIC DECK</a:t>
            </a:r>
            <a:pPr algn="r" indent="0" marL="0">
              <a:lnSpc>
                <a:spcPts val="1680"/>
              </a:lnSpc>
              <a:buNone/>
            </a:pPr>
            <a:endParaRPr lang="en-US" sz="1000" dirty="0"/>
          </a:p>
          <a:p>
            <a:pPr algn="r" indent="0" marL="0">
              <a:lnSpc>
                <a:spcPts val="168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SLIDES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2286000"/>
            <a:ext cx="496885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사업계획서 · BUSINESS PLAN 2026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2857500"/>
            <a:ext cx="10478110" cy="288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225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한국판 </a:t>
            </a:r>
            <a:pPr algn="l" indent="0" marL="0">
              <a:buNone/>
            </a:pPr>
            <a:r>
              <a:rPr lang="en-US" sz="7200" b="1" spc="-225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Walker</a:t>
            </a:r>
            <a:pPr algn="l" indent="0" marL="0">
              <a:buNone/>
            </a:pPr>
            <a:endParaRPr lang="en-US" sz="7200" dirty="0"/>
          </a:p>
          <a:p>
            <a:pPr algn="l" indent="0" marL="0">
              <a:buNone/>
            </a:pPr>
            <a:r>
              <a:rPr lang="en-US" sz="7200" b="1" spc="-225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 심리학</a:t>
            </a:r>
            <a:pPr algn="l" indent="0" marL="0">
              <a:buNone/>
            </a:pPr>
            <a:endParaRPr lang="en-US" sz="7200" dirty="0"/>
          </a:p>
          <a:p>
            <a:pPr algn="l" indent="0" marL="0">
              <a:buNone/>
            </a:pPr>
            <a:r>
              <a:rPr lang="en-US" sz="7200" b="1" spc="-225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적용서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5113325"/>
            <a:ext cx="10478110" cy="88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30년간 검증된 PLF(Product Launch Formula)를</a:t>
            </a:r>
            <a:pPr algn="l" indent="0" marL="0">
              <a:lnSpc>
                <a:spcPts val="3360"/>
              </a:lnSpc>
              <a:buNone/>
            </a:pPr>
            <a:endParaRPr lang="en-US" sz="24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5대 핵심 기법으로 한국 AI 시대에 이식하는 법</a:t>
            </a:r>
            <a:endParaRPr lang="en-US" sz="2400" dirty="0"/>
          </a:p>
        </p:txBody>
      </p:sp>
      <p:pic>
        <p:nvPicPr>
          <p:cNvPr id="9" name="Image 1" descr="gen-dedup-ea85bbb1cbbe02ec89981e1f45f0a31b.png">    </p:cNvPr>
          <p:cNvPicPr>
            <a:picLocks noChangeAspect="1"/>
          </p:cNvPicPr>
          <p:nvPr/>
        </p:nvPicPr>
        <p:blipFill>
          <a:blip r:embed="rId2"/>
          <a:srcRect l="0" r="0" t="-384" b="-384"/>
          <a:stretch/>
        </p:blipFill>
        <p:spPr>
          <a:xfrm>
            <a:off x="761695" y="6476695"/>
            <a:ext cx="952805" cy="576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61695" y="7048195"/>
            <a:ext cx="3343046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11" name="Shape 7"/>
          <p:cNvSpPr/>
          <p:nvPr/>
        </p:nvSpPr>
        <p:spPr>
          <a:xfrm>
            <a:off x="761695" y="7048195"/>
            <a:ext cx="47549" cy="1028700"/>
          </a:xfrm>
          <a:prstGeom prst="roundRect">
            <a:avLst>
              <a:gd name="adj" fmla="val 240384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37844" y="7276795"/>
            <a:ext cx="2839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13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회사명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37844" y="7515454"/>
            <a:ext cx="28392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GrowthAI.kr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330598" y="7048195"/>
            <a:ext cx="3343046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4330598" y="7048195"/>
            <a:ext cx="47549" cy="1028700"/>
          </a:xfrm>
          <a:prstGeom prst="roundRect">
            <a:avLst>
              <a:gd name="adj" fmla="val 240384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06747" y="7276795"/>
            <a:ext cx="2839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13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제품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606747" y="7515454"/>
            <a:ext cx="28392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8주 클래스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899502" y="7048195"/>
            <a:ext cx="3343046" cy="10287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</p:sp>
      <p:sp>
        <p:nvSpPr>
          <p:cNvPr id="19" name="Shape 15"/>
          <p:cNvSpPr/>
          <p:nvPr/>
        </p:nvSpPr>
        <p:spPr>
          <a:xfrm>
            <a:off x="7899502" y="7048195"/>
            <a:ext cx="47549" cy="1028700"/>
          </a:xfrm>
          <a:prstGeom prst="roundRect">
            <a:avLst>
              <a:gd name="adj" fmla="val 240384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175650" y="7276795"/>
            <a:ext cx="2839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13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시장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8175650" y="7515454"/>
            <a:ext cx="28392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₩2.4조 / 1인 교육</a:t>
            </a:r>
            <a:endParaRPr lang="en-US" sz="1800" dirty="0"/>
          </a:p>
        </p:txBody>
      </p:sp>
      <p:pic>
        <p:nvPicPr>
          <p:cNvPr id="22" name="Image 2" descr="gen-dedup-d2a56a739e16543af5e5ca1d886de6cd.png">    </p:cNvPr>
          <p:cNvPicPr>
            <a:picLocks noChangeAspect="1"/>
          </p:cNvPicPr>
          <p:nvPr/>
        </p:nvPicPr>
        <p:blipFill>
          <a:blip r:embed="rId3"/>
          <a:srcRect l="0" r="0" t="-31" b="-31"/>
          <a:stretch/>
        </p:blipFill>
        <p:spPr>
          <a:xfrm>
            <a:off x="10858500" y="1714500"/>
            <a:ext cx="1143000" cy="51480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 rot="21240000">
            <a:off x="10858500" y="1714500"/>
            <a:ext cx="1143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30년 검증</a:t>
            </a:r>
            <a:endParaRPr lang="en-US" sz="1300" dirty="0"/>
          </a:p>
        </p:txBody>
      </p:sp>
      <p:pic>
        <p:nvPicPr>
          <p:cNvPr id="24" name="Image 3" descr="gen-dedup-969ce8345fb8dace03867c881de786bb.png">    </p:cNvPr>
          <p:cNvPicPr>
            <a:picLocks noChangeAspect="1"/>
          </p:cNvPicPr>
          <p:nvPr/>
        </p:nvPicPr>
        <p:blipFill>
          <a:blip r:embed="rId4"/>
          <a:srcRect l="-15" r="-15" t="0" b="0"/>
          <a:stretch/>
        </p:blipFill>
        <p:spPr>
          <a:xfrm>
            <a:off x="16651224" y="2286000"/>
            <a:ext cx="1257300" cy="51480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 rot="360000">
            <a:off x="16651224" y="2286000"/>
            <a:ext cx="12573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한국화 완료</a:t>
            </a:r>
            <a:endParaRPr lang="en-US" sz="1300" dirty="0"/>
          </a:p>
        </p:txBody>
      </p:sp>
      <p:pic>
        <p:nvPicPr>
          <p:cNvPr id="26" name="Image 4" descr="gen-dedup-2faedd7cc4d16e6ffd6c0f97df1868f9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716207" y="2476195"/>
            <a:ext cx="5333695" cy="533369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 rot="3960000">
            <a:off x="11505895" y="2266798"/>
            <a:ext cx="5715000" cy="5715000"/>
          </a:xfrm>
          <a:prstGeom prst="ellipse">
            <a:avLst/>
          </a:prstGeom>
          <a:noFill/>
          <a:ln w="254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2956134" y="3491179"/>
            <a:ext cx="2857500" cy="3305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🚀</a:t>
            </a:r>
            <a:endParaRPr lang="en-US" sz="18000" dirty="0"/>
          </a:p>
        </p:txBody>
      </p:sp>
      <p:pic>
        <p:nvPicPr>
          <p:cNvPr id="29" name="Image 5" descr="gen-dedup-dfe66c2501c2f62586eedbd392ea4583.png">    </p:cNvPr>
          <p:cNvPicPr>
            <a:picLocks noChangeAspect="1"/>
          </p:cNvPicPr>
          <p:nvPr/>
        </p:nvPicPr>
        <p:blipFill>
          <a:blip r:embed="rId6"/>
          <a:srcRect l="-51" r="-51" t="0" b="0"/>
          <a:stretch/>
        </p:blipFill>
        <p:spPr>
          <a:xfrm>
            <a:off x="12613234" y="9048902"/>
            <a:ext cx="3543300" cy="47640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2613234" y="9048902"/>
            <a:ext cx="35433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FIRST LAUNCH → ₩100만+ PAYMENT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9525305"/>
            <a:ext cx="46963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세일즈 페이지 완전 해부 기반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Eugene Schwartz 5단계 모델 적용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6754551" y="9525305"/>
            <a:ext cx="115671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01 /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525598" y="304495"/>
            <a:ext cx="266090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16 · PAGE ARCHITECTURE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2628900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26289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페이지 전체 구조 — 설득의 설계도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6425367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페이지는 </a:t>
            </a:r>
            <a:pPr algn="l" indent="0" marL="0">
              <a:buNone/>
            </a:pPr>
            <a:r>
              <a:rPr lang="en-US" sz="45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30년간 다듬어진 심리 설계 무기</a:t>
            </a:r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171700"/>
            <a:ext cx="11811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강의 소개 페이지가 아닙니다. Eugene Schwartz의 시장 인지도 5단계를 완벽하게 따라, 방문자가 "모르는 상태"에서 "확신 상태"로 이동하도록 설계되어 있습니다.</a:t>
            </a:r>
            <a:endParaRPr lang="en-US" sz="16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933395"/>
            <a:ext cx="761695" cy="38405"/>
          </a:xfrm>
          <a:prstGeom prst="rect">
            <a:avLst/>
          </a:prstGeom>
        </p:spPr>
      </p:pic>
      <p:pic>
        <p:nvPicPr>
          <p:cNvPr id="8" name="Image 1" descr="gen-dedup-e922e76068e9666c379a78710171b521.png">    </p:cNvPr>
          <p:cNvPicPr>
            <a:picLocks noChangeAspect="1"/>
          </p:cNvPicPr>
          <p:nvPr/>
        </p:nvPicPr>
        <p:blipFill>
          <a:blip r:embed="rId2"/>
          <a:srcRect l="0" r="0" t="-40" b="-40"/>
          <a:stretch/>
        </p:blipFill>
        <p:spPr>
          <a:xfrm>
            <a:off x="761695" y="3438144"/>
            <a:ext cx="571500" cy="3813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343814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333195" y="343814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195" y="343814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333195" y="343814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헤드라인 → 기회 제시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3929177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14" name="Image 2" descr="gen-dedup-e922e76068e9666c379a78710171b521.png">    </p:cNvPr>
          <p:cNvPicPr>
            <a:picLocks noChangeAspect="1"/>
          </p:cNvPicPr>
          <p:nvPr/>
        </p:nvPicPr>
        <p:blipFill>
          <a:blip r:embed="rId3"/>
          <a:srcRect l="0" r="0" t="-40" b="-40"/>
          <a:stretch/>
        </p:blipFill>
        <p:spPr>
          <a:xfrm>
            <a:off x="761695" y="4315054"/>
            <a:ext cx="571500" cy="3813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1695" y="431505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1333195" y="431505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1333195" y="431505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333195" y="431505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창업자 스토리 → 공감 형성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4805172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20" name="Image 3" descr="gen-dedup-e922e76068e9666c379a78710171b521.png">    </p:cNvPr>
          <p:cNvPicPr>
            <a:picLocks noChangeAspect="1"/>
          </p:cNvPicPr>
          <p:nvPr/>
        </p:nvPicPr>
        <p:blipFill>
          <a:blip r:embed="rId4"/>
          <a:srcRect l="0" r="0" t="-40" b="-40"/>
          <a:stretch/>
        </p:blipFill>
        <p:spPr>
          <a:xfrm>
            <a:off x="761695" y="5191049"/>
            <a:ext cx="571500" cy="3813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1695" y="5191049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333195" y="5191049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EF2F2"/>
          </a:solidFill>
          <a:ln/>
        </p:spPr>
      </p:sp>
      <p:sp>
        <p:nvSpPr>
          <p:cNvPr id="23" name="Shape 17"/>
          <p:cNvSpPr/>
          <p:nvPr/>
        </p:nvSpPr>
        <p:spPr>
          <a:xfrm>
            <a:off x="1333195" y="5191049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333195" y="5191049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차별화 선언 → 경쟁 제거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761695" y="5682082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26" name="Image 4" descr="gen-dedup-e922e76068e9666c379a78710171b521.png">    </p:cNvPr>
          <p:cNvPicPr>
            <a:picLocks noChangeAspect="1"/>
          </p:cNvPicPr>
          <p:nvPr/>
        </p:nvPicPr>
        <p:blipFill>
          <a:blip r:embed="rId5"/>
          <a:srcRect l="0" r="0" t="-40" b="-40"/>
          <a:stretch/>
        </p:blipFill>
        <p:spPr>
          <a:xfrm>
            <a:off x="761695" y="6067044"/>
            <a:ext cx="571500" cy="3813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61695" y="606704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1333195" y="606704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29" name="Shape 22"/>
          <p:cNvSpPr/>
          <p:nvPr/>
        </p:nvSpPr>
        <p:spPr>
          <a:xfrm>
            <a:off x="1333195" y="606704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333195" y="606704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설명 → 논리 구축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6558077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32" name="Image 5" descr="gen-dedup-e922e76068e9666c379a78710171b521.png">    </p:cNvPr>
          <p:cNvPicPr>
            <a:picLocks noChangeAspect="1"/>
          </p:cNvPicPr>
          <p:nvPr/>
        </p:nvPicPr>
        <p:blipFill>
          <a:blip r:embed="rId6"/>
          <a:srcRect l="0" r="0" t="-40" b="-40"/>
          <a:stretch/>
        </p:blipFill>
        <p:spPr>
          <a:xfrm>
            <a:off x="761695" y="6943954"/>
            <a:ext cx="571500" cy="3813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61695" y="694395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1333195" y="694395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35" name="Shape 27"/>
          <p:cNvSpPr/>
          <p:nvPr/>
        </p:nvSpPr>
        <p:spPr>
          <a:xfrm>
            <a:off x="1333195" y="694395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1333195" y="694395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런치 유형 → 가능성 확장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61695" y="7434072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38" name="Image 6" descr="gen-dedup-e922e76068e9666c379a78710171b521.png">    </p:cNvPr>
          <p:cNvPicPr>
            <a:picLocks noChangeAspect="1"/>
          </p:cNvPicPr>
          <p:nvPr/>
        </p:nvPicPr>
        <p:blipFill>
          <a:blip r:embed="rId7"/>
          <a:srcRect l="0" r="0" t="-40" b="-40"/>
          <a:stretch/>
        </p:blipFill>
        <p:spPr>
          <a:xfrm>
            <a:off x="761695" y="7819949"/>
            <a:ext cx="571500" cy="3813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61695" y="7819949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1333195" y="7819949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41" name="Shape 32"/>
          <p:cNvSpPr/>
          <p:nvPr/>
        </p:nvSpPr>
        <p:spPr>
          <a:xfrm>
            <a:off x="1333195" y="7819949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1333195" y="7819949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 리스트 → 가치 축적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761695" y="8310982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44" name="Image 7" descr="gen-dedup-e922e76068e9666c379a78710171b521.png">    </p:cNvPr>
          <p:cNvPicPr>
            <a:picLocks noChangeAspect="1"/>
          </p:cNvPicPr>
          <p:nvPr/>
        </p:nvPicPr>
        <p:blipFill>
          <a:blip r:embed="rId8"/>
          <a:srcRect l="0" r="0" t="-40" b="-40"/>
          <a:stretch/>
        </p:blipFill>
        <p:spPr>
          <a:xfrm>
            <a:off x="761695" y="8695944"/>
            <a:ext cx="571500" cy="381305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61695" y="869594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1333195" y="869594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47" name="Shape 37"/>
          <p:cNvSpPr/>
          <p:nvPr/>
        </p:nvSpPr>
        <p:spPr>
          <a:xfrm>
            <a:off x="1333195" y="869594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1333195" y="869594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코칭 → 고독 공포 제거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761695" y="9186977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50" name="Image 8" descr="gen-dedup-e922e76068e9666c379a78710171b521.png">    </p:cNvPr>
          <p:cNvPicPr>
            <a:picLocks noChangeAspect="1"/>
          </p:cNvPicPr>
          <p:nvPr/>
        </p:nvPicPr>
        <p:blipFill>
          <a:blip r:embed="rId9"/>
          <a:srcRect l="0" r="0" t="-40" b="-40"/>
          <a:stretch/>
        </p:blipFill>
        <p:spPr>
          <a:xfrm>
            <a:off x="761695" y="9572854"/>
            <a:ext cx="571500" cy="3813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761695" y="957285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1333195" y="957285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FFBEB"/>
          </a:solidFill>
          <a:ln/>
        </p:spPr>
      </p:sp>
      <p:sp>
        <p:nvSpPr>
          <p:cNvPr id="53" name="Shape 42"/>
          <p:cNvSpPr/>
          <p:nvPr/>
        </p:nvSpPr>
        <p:spPr>
          <a:xfrm>
            <a:off x="1333195" y="957285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1333195" y="957285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Launchy.ai → AI 반론 선점</a:t>
            </a:r>
            <a:endParaRPr lang="en-US" sz="1000" dirty="0"/>
          </a:p>
        </p:txBody>
      </p:sp>
      <p:sp>
        <p:nvSpPr>
          <p:cNvPr id="55" name="Text 44"/>
          <p:cNvSpPr txBox="1"/>
          <p:nvPr/>
        </p:nvSpPr>
        <p:spPr>
          <a:xfrm>
            <a:off x="761695" y="10062972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56" name="Image 9" descr="gen-dedup-e922e76068e9666c379a78710171b521.png">    </p:cNvPr>
          <p:cNvPicPr>
            <a:picLocks noChangeAspect="1"/>
          </p:cNvPicPr>
          <p:nvPr/>
        </p:nvPicPr>
        <p:blipFill>
          <a:blip r:embed="rId10"/>
          <a:srcRect l="0" r="0" t="-40" b="-40"/>
          <a:stretch/>
        </p:blipFill>
        <p:spPr>
          <a:xfrm>
            <a:off x="761695" y="10448849"/>
            <a:ext cx="571500" cy="38130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61695" y="10448849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1333195" y="10448849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59" name="Shape 47"/>
          <p:cNvSpPr/>
          <p:nvPr/>
        </p:nvSpPr>
        <p:spPr>
          <a:xfrm>
            <a:off x="1333195" y="10448849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1333195" y="10448849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→ 앵커링 + 선택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761695" y="10939882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62" name="Image 10" descr="gen-dedup-e922e76068e9666c379a78710171b521.png">    </p:cNvPr>
          <p:cNvPicPr>
            <a:picLocks noChangeAspect="1"/>
          </p:cNvPicPr>
          <p:nvPr/>
        </p:nvPicPr>
        <p:blipFill>
          <a:blip r:embed="rId11"/>
          <a:srcRect l="0" r="0" t="-40" b="-40"/>
          <a:stretch/>
        </p:blipFill>
        <p:spPr>
          <a:xfrm>
            <a:off x="761695" y="11324844"/>
            <a:ext cx="571500" cy="381305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761695" y="1132484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1333195" y="1132484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65" name="Shape 52"/>
          <p:cNvSpPr/>
          <p:nvPr/>
        </p:nvSpPr>
        <p:spPr>
          <a:xfrm>
            <a:off x="1333195" y="1132484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6" name="Text 53"/>
          <p:cNvSpPr txBox="1"/>
          <p:nvPr/>
        </p:nvSpPr>
        <p:spPr>
          <a:xfrm>
            <a:off x="1333195" y="1132484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보너스 → 가치 스택</a:t>
            </a:r>
            <a:endParaRPr lang="en-US" sz="1000" dirty="0"/>
          </a:p>
        </p:txBody>
      </p:sp>
      <p:sp>
        <p:nvSpPr>
          <p:cNvPr id="67" name="Text 54"/>
          <p:cNvSpPr txBox="1"/>
          <p:nvPr/>
        </p:nvSpPr>
        <p:spPr>
          <a:xfrm>
            <a:off x="761695" y="11815877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68" name="Image 11" descr="gen-dedup-e922e76068e9666c379a78710171b521.png">    </p:cNvPr>
          <p:cNvPicPr>
            <a:picLocks noChangeAspect="1"/>
          </p:cNvPicPr>
          <p:nvPr/>
        </p:nvPicPr>
        <p:blipFill>
          <a:blip r:embed="rId12"/>
          <a:srcRect l="0" r="0" t="-40" b="-40"/>
          <a:stretch/>
        </p:blipFill>
        <p:spPr>
          <a:xfrm>
            <a:off x="761695" y="12201754"/>
            <a:ext cx="571500" cy="381305"/>
          </a:xfrm>
          <a:prstGeom prst="rect">
            <a:avLst/>
          </a:prstGeom>
        </p:spPr>
      </p:pic>
      <p:sp>
        <p:nvSpPr>
          <p:cNvPr id="69" name="Text 55"/>
          <p:cNvSpPr txBox="1"/>
          <p:nvPr/>
        </p:nvSpPr>
        <p:spPr>
          <a:xfrm>
            <a:off x="761695" y="12201754"/>
            <a:ext cx="571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70" name="Shape 56"/>
          <p:cNvSpPr/>
          <p:nvPr/>
        </p:nvSpPr>
        <p:spPr>
          <a:xfrm>
            <a:off x="1333195" y="12201754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F1F5F9"/>
          </a:solidFill>
          <a:ln/>
        </p:spPr>
      </p:sp>
      <p:sp>
        <p:nvSpPr>
          <p:cNvPr id="71" name="Shape 57"/>
          <p:cNvSpPr/>
          <p:nvPr/>
        </p:nvSpPr>
        <p:spPr>
          <a:xfrm>
            <a:off x="1333195" y="12201754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2" name="Text 58"/>
          <p:cNvSpPr txBox="1"/>
          <p:nvPr/>
        </p:nvSpPr>
        <p:spPr>
          <a:xfrm>
            <a:off x="1333195" y="12201754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퍼소나별 설득 → 나를 위한 것</a:t>
            </a:r>
            <a:endParaRPr lang="en-US" sz="1000" dirty="0"/>
          </a:p>
        </p:txBody>
      </p:sp>
      <p:sp>
        <p:nvSpPr>
          <p:cNvPr id="73" name="Text 59"/>
          <p:cNvSpPr txBox="1"/>
          <p:nvPr/>
        </p:nvSpPr>
        <p:spPr>
          <a:xfrm>
            <a:off x="761695" y="12691872"/>
            <a:ext cx="571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500" dirty="0"/>
          </a:p>
        </p:txBody>
      </p:sp>
      <p:pic>
        <p:nvPicPr>
          <p:cNvPr id="74" name="Image 12" descr="gen-dedup-d9036db4bf0b3bc7528f678dae6fcc88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61695" y="13068605"/>
            <a:ext cx="571500" cy="571500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761695" y="13068605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12-14</a:t>
            </a:r>
            <a:endParaRPr lang="en-US" sz="1000" dirty="0"/>
          </a:p>
        </p:txBody>
      </p:sp>
      <p:sp>
        <p:nvSpPr>
          <p:cNvPr id="76" name="Shape 61"/>
          <p:cNvSpPr/>
          <p:nvPr/>
        </p:nvSpPr>
        <p:spPr>
          <a:xfrm>
            <a:off x="1333195" y="13163702"/>
            <a:ext cx="15620695" cy="381305"/>
          </a:xfrm>
          <a:prstGeom prst="roundRect">
            <a:avLst>
              <a:gd name="adj" fmla="val 19904"/>
            </a:avLst>
          </a:prstGeom>
          <a:solidFill>
            <a:srgbClr val="ECFDF5"/>
          </a:solidFill>
          <a:ln/>
        </p:spPr>
      </p:sp>
      <p:sp>
        <p:nvSpPr>
          <p:cNvPr id="77" name="Shape 62"/>
          <p:cNvSpPr/>
          <p:nvPr/>
        </p:nvSpPr>
        <p:spPr>
          <a:xfrm>
            <a:off x="1333195" y="13163702"/>
            <a:ext cx="38405" cy="381305"/>
          </a:xfrm>
          <a:prstGeom prst="roundRect">
            <a:avLst>
              <a:gd name="adj" fmla="val 19761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1333195" y="13163702"/>
            <a:ext cx="15621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15900" tIns="101600" rIns="215900" bIns="1016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→ 환불 보장 → 개인 편지 → 최종 CTA</a:t>
            </a:r>
            <a:endParaRPr lang="en-US" sz="1000" dirty="0"/>
          </a:p>
        </p:txBody>
      </p:sp>
      <p:pic>
        <p:nvPicPr>
          <p:cNvPr id="79" name="Image 13" descr="gen-dedup-b896cba3e51a0568b04c08067abb24dd.png">    </p:cNvPr>
          <p:cNvPicPr>
            <a:picLocks noChangeAspect="1"/>
          </p:cNvPicPr>
          <p:nvPr/>
        </p:nvPicPr>
        <p:blipFill>
          <a:blip r:embed="rId14"/>
          <a:srcRect l="0" r="0" t="-32" b="-32"/>
          <a:stretch/>
        </p:blipFill>
        <p:spPr>
          <a:xfrm>
            <a:off x="761695" y="8781898"/>
            <a:ext cx="16763695" cy="743407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1067105" y="9072677"/>
            <a:ext cx="14502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KEY INSIGHT</a:t>
            </a:r>
            <a:endParaRPr lang="en-US" sz="900" dirty="0"/>
          </a:p>
        </p:txBody>
      </p:sp>
      <p:sp>
        <p:nvSpPr>
          <p:cNvPr id="81" name="Text 65"/>
          <p:cNvSpPr txBox="1"/>
          <p:nvPr/>
        </p:nvSpPr>
        <p:spPr>
          <a:xfrm>
            <a:off x="2608783" y="9010498"/>
            <a:ext cx="150693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Eugene Schwartz의 시장 인지도 5단계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완벽히 따릅니다 — 방문자가 </a:t>
            </a:r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"모르는 상태"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시작해 </a:t>
            </a:r>
            <a:pPr algn="l"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"확신 상태"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이동하도록 페이지 전체가 설계되어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314371" y="304495"/>
            <a:ext cx="28611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16 · HEADLINE PSYCHOLOGY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2457907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24579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헤드라인 해부 — 3중 심리 구조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3791895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줄은 </a:t>
            </a:r>
            <a:pPr algn="l" indent="0" marL="0">
              <a:buNone/>
            </a:pPr>
            <a:r>
              <a:rPr lang="en-US" sz="45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 다른 심리 버튼을 누릅니다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171700"/>
            <a:ext cx="11811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번째는 꿈+근접성, 두 번째는 사회적 증거의 권위 승격, 세 번째는 2026년 AI 반론을 선제 처리합니다.</a:t>
            </a:r>
            <a:endParaRPr lang="en-US" sz="16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933395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3429000"/>
            <a:ext cx="5438851" cy="3372307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3429000"/>
            <a:ext cx="5438851" cy="57607"/>
          </a:xfrm>
          <a:prstGeom prst="roundRect">
            <a:avLst>
              <a:gd name="adj" fmla="val 26508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7902" y="3762756"/>
            <a:ext cx="1133856" cy="237744"/>
          </a:xfrm>
          <a:prstGeom prst="roundRect">
            <a:avLst>
              <a:gd name="adj" fmla="val 16154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7902" y="3762756"/>
            <a:ext cx="11338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 01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47902" y="4153205"/>
            <a:ext cx="48673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꿈(Dream) + 근접성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(Just a… Away)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47902" y="4849978"/>
            <a:ext cx="4867351" cy="571500"/>
          </a:xfrm>
          <a:prstGeom prst="roundRect">
            <a:avLst>
              <a:gd name="adj" fmla="val 16640"/>
            </a:avLst>
          </a:prstGeom>
          <a:solidFill>
            <a:srgbClr val="F8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902" y="4849978"/>
            <a:ext cx="38405" cy="571500"/>
          </a:xfrm>
          <a:prstGeom prst="roundRect">
            <a:avLst>
              <a:gd name="adj" fmla="val 24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47902" y="4849978"/>
            <a:ext cx="4867351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17780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Your Dream Business is Just a Launch Away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5611673"/>
            <a:ext cx="48673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심리 트리거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047902" y="5840273"/>
            <a:ext cx="4867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"멀리 있지 않다, 딱 하나만 하면 된다"는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진입 장벽 인식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심어줍니다. 복잡한 시스템이 아니라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 하나의 행동(Launch)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프레임을 단순화한 것이 핵심.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26403" y="3429000"/>
            <a:ext cx="5438851" cy="3372307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26403" y="3429000"/>
            <a:ext cx="5438851" cy="57607"/>
          </a:xfrm>
          <a:prstGeom prst="roundRect">
            <a:avLst>
              <a:gd name="adj" fmla="val 265080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11696" y="3762756"/>
            <a:ext cx="1133856" cy="237744"/>
          </a:xfrm>
          <a:prstGeom prst="roundRect">
            <a:avLst>
              <a:gd name="adj" fmla="val 16154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11696" y="3762756"/>
            <a:ext cx="11338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 02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711696" y="4153205"/>
            <a:ext cx="486735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사회적 증거 → 권위 승격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711696" y="4577486"/>
            <a:ext cx="4867351" cy="800100"/>
          </a:xfrm>
          <a:prstGeom prst="roundRect">
            <a:avLst>
              <a:gd name="adj" fmla="val 11886"/>
            </a:avLst>
          </a:pr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6711696" y="4577486"/>
            <a:ext cx="38405" cy="800100"/>
          </a:xfrm>
          <a:prstGeom prst="roundRect">
            <a:avLst>
              <a:gd name="adj" fmla="val 24761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11696" y="4577486"/>
            <a:ext cx="4867351" cy="800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Proof is Overwhelming: the Product Launch Formula is the Most Proven Path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711696" y="5568696"/>
            <a:ext cx="48673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심리 트리거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711696" y="5797296"/>
            <a:ext cx="4867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"Proof is Overwhelming"으로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반론을 사전에 차단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"Most Proven Path"는 최상급으로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경쟁자를 존재 자체에서 지웁니다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2090197" y="3429000"/>
            <a:ext cx="5438851" cy="3372307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090197" y="3429000"/>
            <a:ext cx="5438851" cy="57607"/>
          </a:xfrm>
          <a:prstGeom prst="roundRect">
            <a:avLst>
              <a:gd name="adj" fmla="val 26508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376404" y="3762756"/>
            <a:ext cx="1133856" cy="237744"/>
          </a:xfrm>
          <a:prstGeom prst="roundRect">
            <a:avLst>
              <a:gd name="adj" fmla="val 16154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2376404" y="3762756"/>
            <a:ext cx="11338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HEADLINE 03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2376404" y="4153205"/>
            <a:ext cx="48673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반론 선제 처리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호기심 유발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2376404" y="4849978"/>
            <a:ext cx="4867351" cy="800100"/>
          </a:xfrm>
          <a:prstGeom prst="roundRect">
            <a:avLst>
              <a:gd name="adj" fmla="val 11886"/>
            </a:avLst>
          </a:prstGeom>
          <a:solidFill>
            <a:srgbClr val="F8FAFC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76404" y="4849978"/>
            <a:ext cx="38405" cy="800100"/>
          </a:xfrm>
          <a:prstGeom prst="roundRect">
            <a:avLst>
              <a:gd name="adj" fmla="val 24761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2376404" y="4849978"/>
            <a:ext cx="4867351" cy="800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(and if you thought AI was a game-changer, wait until you see Launchy.ai)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2376404" y="5840273"/>
            <a:ext cx="48673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심리 트리거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12376404" y="6068873"/>
            <a:ext cx="4867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가장 위협적인 반론인 </a:t>
            </a:r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 시대에 이런 강의가 필요한가?"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선제적으로 처리하면서 호기심 유발. 괄호 처리로 '귓속말' 느낌의 친밀감까지.</a:t>
            </a:r>
            <a:endParaRPr lang="en-US" sz="1100" dirty="0"/>
          </a:p>
        </p:txBody>
      </p:sp>
      <p:pic>
        <p:nvPicPr>
          <p:cNvPr id="38" name="Image 1" descr="gen-dedup-b0e4de5e1b670317a5198a6136caa3aa.png">    </p:cNvPr>
          <p:cNvPicPr>
            <a:picLocks noChangeAspect="1"/>
          </p:cNvPicPr>
          <p:nvPr/>
        </p:nvPicPr>
        <p:blipFill>
          <a:blip r:embed="rId2"/>
          <a:srcRect l="-8" r="-8" t="0" b="0"/>
          <a:stretch/>
        </p:blipFill>
        <p:spPr>
          <a:xfrm>
            <a:off x="761695" y="8099755"/>
            <a:ext cx="16763695" cy="1424635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1067105" y="8328355"/>
            <a:ext cx="2200046" cy="276149"/>
          </a:xfrm>
          <a:prstGeom prst="roundRect">
            <a:avLst>
              <a:gd name="adj" fmla="val 13907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67105" y="8328355"/>
            <a:ext cx="22009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GROWTHAI.KR 한국화 적용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1067105" y="8718804"/>
            <a:ext cx="161547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"AI로 만들었는데 왜 안 팔릴까요? 답은 런치 구조입니다."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1067105" y="9068105"/>
            <a:ext cx="161547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ChatGPT로 카피 쓰는 법보다, 언제 어떻게 공개하느냐가 100배 중요합니다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83942" y="304495"/>
            <a:ext cx="306232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16 · FOUNDER STORY FORMULA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353105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3531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창업자 스토리 — 취약성이 신뢰를 만드는 공식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$2,000</a:t>
            </a:r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이라는 초라한 첫 숫자가</a:t>
            </a:r>
            <a:pPr algn="l" indent="0" marL="0">
              <a:buNone/>
            </a:pPr>
            <a:endParaRPr lang="en-US" sz="4500" dirty="0"/>
          </a:p>
          <a:p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설득력을 만드는 역설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171700"/>
            <a:ext cx="1329171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처음부터 대단한 사람처럼 보이면 "나는 그 사람이 아니다"라는 거리감이 생깁니다. Jeff Walker의 본능적 설득 기술을 해부합니다.</a:t>
            </a:r>
            <a:endParaRPr lang="en-US" sz="16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933395"/>
            <a:ext cx="761695" cy="38405"/>
          </a:xfrm>
          <a:prstGeom prst="rect">
            <a:avLst/>
          </a:prstGeom>
        </p:spPr>
      </p:pic>
      <p:pic>
        <p:nvPicPr>
          <p:cNvPr id="8" name="Image 1" descr="gen-dedup-51cf535da7d10c2b1930b26c90ec892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" y="3429000"/>
            <a:ext cx="10477195" cy="22192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771900"/>
            <a:ext cx="9715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원문 인용 · 30년 전 Jeff Walker의 첫 런치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016959"/>
            <a:ext cx="9715500" cy="1288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"After nearly 30 years, I can still remember my first launch… It was a humble start (the sales were </a:t>
            </a:r>
            <a:pPr algn="l" indent="0" marL="0">
              <a:lnSpc>
                <a:spcPts val="2475"/>
              </a:lnSpc>
              <a:buNone/>
            </a:pPr>
            <a:r>
              <a:rPr lang="en-US" sz="1600" b="1" i="1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 than $2,000</a:t>
            </a:r>
            <a:pPr algn="l" indent="0" marL="0">
              <a:lnSpc>
                <a:spcPts val="2475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)…</a:t>
            </a:r>
            <a:pPr algn="l" indent="0" marL="0">
              <a:lnSpc>
                <a:spcPts val="2475"/>
              </a:lnSpc>
              <a:buNone/>
            </a:pPr>
            <a:endParaRPr lang="en-US" sz="1600" dirty="0"/>
          </a:p>
          <a:p>
            <a:pPr algn="l" indent="0" marL="0">
              <a:lnSpc>
                <a:spcPts val="2475"/>
              </a:lnSpc>
              <a:buNone/>
            </a:pPr>
            <a:endParaRPr lang="en-US" sz="1600" dirty="0"/>
          </a:p>
          <a:p>
            <a:pPr algn="l" indent="0" marL="0">
              <a:lnSpc>
                <a:spcPts val="2475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I'm no different than you. I didn't have any advantages when I first started. I just started earlier."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239805" y="3429000"/>
            <a:ext cx="6286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113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취약성 → 동일시 → 신뢰 (Brené Brown 모델)</a:t>
            </a:r>
            <a:endParaRPr lang="en-US" sz="1300" dirty="0"/>
          </a:p>
        </p:txBody>
      </p:sp>
      <p:pic>
        <p:nvPicPr>
          <p:cNvPr id="12" name="Image 2" descr="gen-dedup-037a146d83988b18184a60fe5514763c.png">    </p:cNvPr>
          <p:cNvPicPr>
            <a:picLocks noChangeAspect="1"/>
          </p:cNvPicPr>
          <p:nvPr/>
        </p:nvPicPr>
        <p:blipFill>
          <a:blip r:embed="rId3"/>
          <a:srcRect l="0" r="0" t="-28" b="-28"/>
          <a:stretch/>
        </p:blipFill>
        <p:spPr>
          <a:xfrm>
            <a:off x="11239805" y="3829507"/>
            <a:ext cx="5943600" cy="6766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9144" y="3962095"/>
            <a:ext cx="5591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 · 취약성 공개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1439144" y="4190695"/>
            <a:ext cx="55915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$2,000이라는 작은 첫 매출을 자랑스럽게 공개. "나도 작게 시작했다"는 외부 귀인 부여.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17297705" y="4000500"/>
            <a:ext cx="2286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pic>
        <p:nvPicPr>
          <p:cNvPr id="16" name="Image 3" descr="gen-dedup-037a146d83988b18184a60fe5514763c.png">    </p:cNvPr>
          <p:cNvPicPr>
            <a:picLocks noChangeAspect="1"/>
          </p:cNvPicPr>
          <p:nvPr/>
        </p:nvPicPr>
        <p:blipFill>
          <a:blip r:embed="rId4"/>
          <a:srcRect l="0" r="0" t="-28" b="-28"/>
          <a:stretch/>
        </p:blipFill>
        <p:spPr>
          <a:xfrm>
            <a:off x="11239805" y="4638751"/>
            <a:ext cx="5943600" cy="6766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9144" y="4772254"/>
            <a:ext cx="5591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 · 동일시 (Identification)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439144" y="5000854"/>
            <a:ext cx="55915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"I'm no different than you" — 독자가 주인공과 자신을 동일시하게 만든다.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7297705" y="4809744"/>
            <a:ext cx="2286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pic>
        <p:nvPicPr>
          <p:cNvPr id="20" name="Image 4" descr="gen-dedup-df6984416fe5274d4f9cda8932bb196e.png">    </p:cNvPr>
          <p:cNvPicPr>
            <a:picLocks noChangeAspect="1"/>
          </p:cNvPicPr>
          <p:nvPr/>
        </p:nvPicPr>
        <p:blipFill>
          <a:blip r:embed="rId5"/>
          <a:srcRect l="0" r="0" t="-28" b="-28"/>
          <a:stretch/>
        </p:blipFill>
        <p:spPr>
          <a:xfrm>
            <a:off x="11239805" y="5447995"/>
            <a:ext cx="6286500" cy="6766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9144" y="5581498"/>
            <a:ext cx="59344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· 신뢰 (Trust)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1439144" y="5810098"/>
            <a:ext cx="637062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just started earlier" — 천재성이 아닌 시간 우위만 주장. "당신도 시작하면 나처럼 될 수 있다."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761695" y="8182051"/>
            <a:ext cx="16763695" cy="1343254"/>
          </a:xfrm>
          <a:prstGeom prst="roundRect">
            <a:avLst>
              <a:gd name="adj" fmla="val 8509"/>
            </a:avLst>
          </a:prstGeom>
          <a:solidFill>
            <a:srgbClr val="FFFBEB"/>
          </a:solidFill>
          <a:ln/>
        </p:spPr>
      </p:sp>
      <p:sp>
        <p:nvSpPr>
          <p:cNvPr id="24" name="Shape 17"/>
          <p:cNvSpPr/>
          <p:nvPr/>
        </p:nvSpPr>
        <p:spPr>
          <a:xfrm>
            <a:off x="761695" y="8182051"/>
            <a:ext cx="57607" cy="1343254"/>
          </a:xfrm>
          <a:prstGeom prst="roundRect">
            <a:avLst>
              <a:gd name="adj" fmla="val 198413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123798" y="8419795"/>
            <a:ext cx="2038198" cy="247802"/>
          </a:xfrm>
          <a:prstGeom prst="roundRect">
            <a:avLst>
              <a:gd name="adj" fmla="val 15498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123798" y="8419795"/>
            <a:ext cx="20391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GROWTHAI.KR 한국화 적용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1123798" y="8762695"/>
            <a:ext cx="16098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운영자의 "첫 번째 시도 실패 → 구조를 발견한 순간 → 첫 번째 결제가 들어온 날" 스토리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123798" y="9068105"/>
            <a:ext cx="16098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형식으로 써야 합니다. </a:t>
            </a:r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매출이 작아도 괜찮습니다. 오히려 작을수록 좋습니다.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"첫 번째 주에 94,000원이 결제됐습니다"는 "첫 달에 1,000만 원"보다 더 강한 공감을 만듭니다.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142464" y="304495"/>
            <a:ext cx="30595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16 · TESTIMONIAL PLACEMENT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409798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4107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사회적 증거 배치 전략 — 타이밍과 수치의 과학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익명 후기는 </a:t>
            </a:r>
            <a:pPr algn="l" indent="0" marL="0">
              <a:buNone/>
            </a:pPr>
            <a:r>
              <a:rPr lang="en-US" sz="45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 하나도 없습니다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171700"/>
            <a:ext cx="1477487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후기에 직업, 위치, 이름이 붙어있습니다. Cialdini의 유사성 원칙(Similarity Principle) — 독자가 "나도 되겠다"는 심리가 작동합니다.</a:t>
            </a:r>
            <a:endParaRPr lang="en-US" sz="16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857500"/>
            <a:ext cx="761695" cy="38405"/>
          </a:xfrm>
          <a:prstGeom prst="rect">
            <a:avLst/>
          </a:prstGeom>
        </p:spPr>
      </p:pic>
      <p:pic>
        <p:nvPicPr>
          <p:cNvPr id="8" name="Image 1" descr="gen-dedup-ca698492641006a784cbd90f5daf3ef0.png">    </p:cNvPr>
          <p:cNvPicPr>
            <a:picLocks noChangeAspect="1"/>
          </p:cNvPicPr>
          <p:nvPr/>
        </p:nvPicPr>
        <p:blipFill>
          <a:blip r:embed="rId2"/>
          <a:srcRect l="-9" r="-9" t="0" b="0"/>
          <a:stretch/>
        </p:blipFill>
        <p:spPr>
          <a:xfrm>
            <a:off x="761695" y="3238805"/>
            <a:ext cx="3238805" cy="26371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72007" y="3467405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72007" y="3467405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초반 배치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972007" y="3829507"/>
            <a:ext cx="28200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Ray Lambert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72007" y="4200754"/>
            <a:ext cx="2819095" cy="847649"/>
          </a:xfrm>
          <a:prstGeom prst="roundRect">
            <a:avLst>
              <a:gd name="adj" fmla="val 6796"/>
            </a:avLst>
          </a:prstGeom>
          <a:solidFill>
            <a:srgbClr val="F8FAFC"/>
          </a:solidFill>
          <a:ln/>
        </p:spPr>
      </p:sp>
      <p:sp>
        <p:nvSpPr>
          <p:cNvPr id="13" name="Shape 9"/>
          <p:cNvSpPr/>
          <p:nvPr/>
        </p:nvSpPr>
        <p:spPr>
          <a:xfrm>
            <a:off x="972007" y="4200754"/>
            <a:ext cx="28346" cy="847649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72007" y="4200754"/>
            <a:ext cx="2820010" cy="8485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"TA-DA, we did over $13,000 in sales. Enrolled 44 students. A little bit of heaven."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972007" y="5142586"/>
            <a:ext cx="28200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$13,000+ · 44명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972007" y="5504688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신뢰 형성 (구체 수치 + 감정)</a:t>
            </a:r>
            <a:endParaRPr lang="en-US" sz="900" dirty="0"/>
          </a:p>
        </p:txBody>
      </p:sp>
      <p:pic>
        <p:nvPicPr>
          <p:cNvPr id="17" name="Image 2" descr="gen-dedup-ca698492641006a784cbd90f5daf3ef0.png">    </p:cNvPr>
          <p:cNvPicPr>
            <a:picLocks noChangeAspect="1"/>
          </p:cNvPicPr>
          <p:nvPr/>
        </p:nvPicPr>
        <p:blipFill>
          <a:blip r:embed="rId3"/>
          <a:srcRect l="-9" r="-9" t="0" b="0"/>
          <a:stretch/>
        </p:blipFill>
        <p:spPr>
          <a:xfrm>
            <a:off x="4153205" y="3238805"/>
            <a:ext cx="3238805" cy="263713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362602" y="3467405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62602" y="3467405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 제공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4362602" y="3829507"/>
            <a:ext cx="28200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Carolyn Glenn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362602" y="4200754"/>
            <a:ext cx="2819095" cy="847649"/>
          </a:xfrm>
          <a:prstGeom prst="roundRect">
            <a:avLst>
              <a:gd name="adj" fmla="val 6796"/>
            </a:avLst>
          </a:prstGeom>
          <a:solidFill>
            <a:srgbClr val="F8FAFC"/>
          </a:solidFill>
          <a:ln/>
        </p:spPr>
      </p:sp>
      <p:sp>
        <p:nvSpPr>
          <p:cNvPr id="22" name="Shape 17"/>
          <p:cNvSpPr/>
          <p:nvPr/>
        </p:nvSpPr>
        <p:spPr>
          <a:xfrm>
            <a:off x="4362602" y="4200754"/>
            <a:ext cx="28346" cy="847649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362602" y="4200754"/>
            <a:ext cx="2820010" cy="8485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"Just hit my first 5-FIGURE MONTH EVER. Something I barely thought was really possible."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362602" y="5142586"/>
            <a:ext cx="28200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5자리 월 수입 첫 달성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362602" y="5504688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불가능 → 가능으로의 전환</a:t>
            </a:r>
            <a:endParaRPr lang="en-US" sz="900" dirty="0"/>
          </a:p>
        </p:txBody>
      </p:sp>
      <p:pic>
        <p:nvPicPr>
          <p:cNvPr id="26" name="Image 3" descr="gen-dedup-ca698492641006a784cbd90f5daf3ef0.png">    </p:cNvPr>
          <p:cNvPicPr>
            <a:picLocks noChangeAspect="1"/>
          </p:cNvPicPr>
          <p:nvPr/>
        </p:nvPicPr>
        <p:blipFill>
          <a:blip r:embed="rId4"/>
          <a:srcRect l="-9" r="-9" t="0" b="0"/>
          <a:stretch/>
        </p:blipFill>
        <p:spPr>
          <a:xfrm>
            <a:off x="7543800" y="3238805"/>
            <a:ext cx="3238805" cy="263713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753198" y="3467405"/>
            <a:ext cx="942746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53198" y="3467405"/>
            <a:ext cx="9436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 전환 공명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7753198" y="3829507"/>
            <a:ext cx="28200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Daniel Grissom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753198" y="4200754"/>
            <a:ext cx="2819095" cy="657454"/>
          </a:xfrm>
          <a:prstGeom prst="roundRect">
            <a:avLst>
              <a:gd name="adj" fmla="val 8762"/>
            </a:avLst>
          </a:prstGeom>
          <a:solidFill>
            <a:srgbClr val="F8FAFC"/>
          </a:solidFill>
          <a:ln/>
        </p:spPr>
      </p:sp>
      <p:sp>
        <p:nvSpPr>
          <p:cNvPr id="31" name="Shape 25"/>
          <p:cNvSpPr/>
          <p:nvPr/>
        </p:nvSpPr>
        <p:spPr>
          <a:xfrm>
            <a:off x="7753198" y="4200754"/>
            <a:ext cx="28346" cy="657454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53198" y="4200754"/>
            <a:ext cx="2820010" cy="6574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"Made $4,000 in monthly revenue… replaced my teacher salary."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7753198" y="4948733"/>
            <a:ext cx="28200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$4K/mo · 교사 월급 대체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7753198" y="5310835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커리어 전환 타깃 공명</a:t>
            </a:r>
            <a:endParaRPr lang="en-US" sz="900" dirty="0"/>
          </a:p>
        </p:txBody>
      </p:sp>
      <p:pic>
        <p:nvPicPr>
          <p:cNvPr id="35" name="Image 4" descr="gen-dedup-ca698492641006a784cbd90f5daf3ef0.png">    </p:cNvPr>
          <p:cNvPicPr>
            <a:picLocks noChangeAspect="1"/>
          </p:cNvPicPr>
          <p:nvPr/>
        </p:nvPicPr>
        <p:blipFill>
          <a:blip r:embed="rId5"/>
          <a:srcRect l="-9" r="-9" t="0" b="0"/>
          <a:stretch/>
        </p:blipFill>
        <p:spPr>
          <a:xfrm>
            <a:off x="10934395" y="3238805"/>
            <a:ext cx="3238805" cy="263713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1144707" y="3467405"/>
            <a:ext cx="790956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1144707" y="3467405"/>
            <a:ext cx="7909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즉시성 욕구</a:t>
            </a:r>
            <a:endParaRPr lang="en-US" sz="800" dirty="0"/>
          </a:p>
        </p:txBody>
      </p:sp>
      <p:sp>
        <p:nvSpPr>
          <p:cNvPr id="38" name="Text 31"/>
          <p:cNvSpPr txBox="1"/>
          <p:nvPr/>
        </p:nvSpPr>
        <p:spPr>
          <a:xfrm>
            <a:off x="11144707" y="3829507"/>
            <a:ext cx="28200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Ida Anderson Lang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11144707" y="4200754"/>
            <a:ext cx="2819095" cy="657454"/>
          </a:xfrm>
          <a:prstGeom prst="roundRect">
            <a:avLst>
              <a:gd name="adj" fmla="val 8762"/>
            </a:avLst>
          </a:prstGeom>
          <a:solidFill>
            <a:srgbClr val="F8FAFC"/>
          </a:solidFill>
          <a:ln/>
        </p:spPr>
      </p:sp>
      <p:sp>
        <p:nvSpPr>
          <p:cNvPr id="40" name="Shape 33"/>
          <p:cNvSpPr/>
          <p:nvPr/>
        </p:nvSpPr>
        <p:spPr>
          <a:xfrm>
            <a:off x="11144707" y="4200754"/>
            <a:ext cx="28346" cy="657454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1144707" y="4200754"/>
            <a:ext cx="2820010" cy="6574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"That income more than doubled overnight."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11144707" y="4948733"/>
            <a:ext cx="28200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2배+ (overnight)</a:t>
            </a:r>
            <a:endParaRPr lang="en-US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11144707" y="5310835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"즉시"에 대한 욕구 자극</a:t>
            </a:r>
            <a:endParaRPr lang="en-US" sz="900" dirty="0"/>
          </a:p>
        </p:txBody>
      </p:sp>
      <p:pic>
        <p:nvPicPr>
          <p:cNvPr id="44" name="Image 5" descr="gen-dedup-f16a23b05f03c093c669fdd85c75b0f6.png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14325905" y="3238805"/>
            <a:ext cx="3200400" cy="263713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14516100" y="3448202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14516100" y="3448202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확인</a:t>
            </a:r>
            <a:endParaRPr lang="en-US" sz="800" dirty="0"/>
          </a:p>
        </p:txBody>
      </p:sp>
      <p:sp>
        <p:nvSpPr>
          <p:cNvPr id="47" name="Text 39"/>
          <p:cNvSpPr txBox="1"/>
          <p:nvPr/>
        </p:nvSpPr>
        <p:spPr>
          <a:xfrm>
            <a:off x="14516100" y="3810305"/>
            <a:ext cx="28200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Lori Williams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14516100" y="4181551"/>
            <a:ext cx="2819095" cy="657454"/>
          </a:xfrm>
          <a:prstGeom prst="roundRect">
            <a:avLst>
              <a:gd name="adj" fmla="val 876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Shape 41"/>
          <p:cNvSpPr/>
          <p:nvPr/>
        </p:nvSpPr>
        <p:spPr>
          <a:xfrm>
            <a:off x="14516100" y="4181551"/>
            <a:ext cx="28346" cy="657454"/>
          </a:xfrm>
          <a:prstGeom prst="roundRect">
            <a:avLst>
              <a:gd name="adj" fmla="val 203229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14516100" y="4181551"/>
            <a:ext cx="2820010" cy="6574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"$72,312 → $253,547 → $341,696 → $587,212"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14516100" y="4930445"/>
            <a:ext cx="28200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연도별 성장 곡선</a:t>
            </a:r>
            <a:endParaRPr lang="en-US" sz="1600" dirty="0"/>
          </a:p>
        </p:txBody>
      </p:sp>
      <p:sp>
        <p:nvSpPr>
          <p:cNvPr id="52" name="Text 44"/>
          <p:cNvSpPr txBox="1"/>
          <p:nvPr/>
        </p:nvSpPr>
        <p:spPr>
          <a:xfrm>
            <a:off x="14516100" y="5291633"/>
            <a:ext cx="28200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뒤 배치 — 이미 설득된 사람의 마지막 확인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761695" y="8428025"/>
            <a:ext cx="16763695" cy="724205"/>
          </a:xfrm>
          <a:prstGeom prst="roundRect">
            <a:avLst>
              <a:gd name="adj" fmla="val 18434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1028700" y="8695030"/>
            <a:ext cx="226222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Cialdini × Kahneman 공식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3258007" y="8637422"/>
            <a:ext cx="702259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후기의 설득력</a:t>
            </a:r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숫자</a:t>
            </a:r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 신뢰도</a:t>
            </a:r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나와의 유사성</a:t>
            </a:r>
            <a:endParaRPr lang="en-US" sz="1800" dirty="0"/>
          </a:p>
        </p:txBody>
      </p:sp>
      <p:sp>
        <p:nvSpPr>
          <p:cNvPr id="56" name="Text 48"/>
          <p:cNvSpPr txBox="1"/>
          <p:nvPr/>
        </p:nvSpPr>
        <p:spPr>
          <a:xfrm>
            <a:off x="761695" y="9515246"/>
            <a:ext cx="94302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한국화 적용: 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"[이름] / [직업] / [도시] / 이전 월 수익 → 이후 월 수익 + 소요 기간"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예) "김OO / 프리랜서 디자이너 / 부산 / 첫 런치 3주 후 결제 94만원"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425014" y="304495"/>
            <a:ext cx="285658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16 · PLF DIFFERENTIATION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295498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2964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THE PLF DIFFERENCE — 경쟁 제거 기술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문장이 </a:t>
            </a:r>
            <a:pPr algn="l" indent="0" marL="0">
              <a:buNone/>
            </a:pPr>
            <a:r>
              <a:rPr lang="en-US" sz="45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가지를 동시에 처리</a:t>
            </a:r>
            <a:pPr algn="l" indent="0" marL="0">
              <a:buNone/>
            </a:pPr>
            <a:r>
              <a:rPr lang="en-US" sz="45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합니다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171700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"솔직한 인정 → 유일성 선언 → 비교 대상의 추상화" — 직접 경쟁자를 공격하지 않고도 차별화 효과를 만들어내는 은연중 비교 기법.</a:t>
            </a:r>
            <a:endParaRPr lang="en-US" sz="16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857500"/>
            <a:ext cx="761695" cy="38405"/>
          </a:xfrm>
          <a:prstGeom prst="rect">
            <a:avLst/>
          </a:prstGeom>
        </p:spPr>
      </p:pic>
      <p:pic>
        <p:nvPicPr>
          <p:cNvPr id="8" name="Image 1" descr="gen-dedup-d6a390c38c315cd37349517027089dba.png">    </p:cNvPr>
          <p:cNvPicPr>
            <a:picLocks noChangeAspect="1"/>
          </p:cNvPicPr>
          <p:nvPr/>
        </p:nvPicPr>
        <p:blipFill>
          <a:blip r:embed="rId2"/>
          <a:srcRect l="0" r="0" t="-4" b="-4"/>
          <a:stretch/>
        </p:blipFill>
        <p:spPr>
          <a:xfrm>
            <a:off x="761695" y="3238805"/>
            <a:ext cx="16763695" cy="132405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43000" y="3524098"/>
            <a:ext cx="1000354" cy="276149"/>
          </a:xfrm>
          <a:prstGeom prst="roundRect">
            <a:avLst>
              <a:gd name="adj" fmla="val 13907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43000" y="3524098"/>
            <a:ext cx="10003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원문 인용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3933749"/>
            <a:ext cx="166878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"Let's be honest… there's a </a:t>
            </a:r>
            <a:pPr algn="l" indent="0" marL="0">
              <a:buNone/>
            </a:pPr>
            <a:r>
              <a:rPr lang="en-US" sz="1800" b="1" i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gazillion courses</a:t>
            </a:r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on building your business. </a:t>
            </a:r>
            <a:pPr algn="l" indent="0" marL="0">
              <a:buNone/>
            </a:pPr>
            <a:r>
              <a:rPr lang="en-US" sz="1800" b="1" i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 PLF is different from every other course on the market</a:t>
            </a:r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61695" y="4953305"/>
            <a:ext cx="5438851" cy="1552651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3" name="Image 2" descr="gen-dedup-b771130932cc1e8ad51a1b63fd37f6d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9498" y="5201107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9498" y="52011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580998" y="5290718"/>
            <a:ext cx="113842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솔직한 인정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009498" y="5810098"/>
            <a:ext cx="49441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"gazillion(엄청나게 많은)"이라는 단어로 포화 시장을 인정해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신뢰를 얻습니다.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거짓 부정이 아닌 솔직한 인정이 신뢰의 기초가 됩니다.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26403" y="4953305"/>
            <a:ext cx="5438851" cy="1552651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8" name="Image 3" descr="gen-dedup-23b601d5c17ab0fe0bd00a42f2d4122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74206" y="5201107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4206" y="52011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245706" y="5290718"/>
            <a:ext cx="113842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유일성 선언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674206" y="5810098"/>
            <a:ext cx="49441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"But PLF is different"로 즉시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유일성 포지션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선언. 강점이 아니라 구조 자체가 다르다는 메타 레벨의 차이를 강조.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2090197" y="4953305"/>
            <a:ext cx="5438851" cy="1552651"/>
          </a:xfrm>
          <a:prstGeom prst="roundRect">
            <a:avLst>
              <a:gd name="adj" fmla="val 859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23" name="Image 4" descr="gen-dedup-c90884eb7fa7c6b8f1ae85ac214f58f4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337999" y="5201107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337999" y="520110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2909499" y="5290718"/>
            <a:ext cx="154442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추상화된 경쟁자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2337999" y="5810098"/>
            <a:ext cx="494416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경쟁자를 구체적으로 언급하지 않아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"일반적인 강의들"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추상화. 특정 경쟁자를 무료로 홍보하는 실수를 피하면서도 차별화 효과를 냅니다.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61695" y="8134502"/>
            <a:ext cx="16763695" cy="1390802"/>
          </a:xfrm>
          <a:prstGeom prst="roundRect">
            <a:avLst>
              <a:gd name="adj" fmla="val 9599"/>
            </a:avLst>
          </a:prstGeom>
          <a:solidFill>
            <a:srgbClr val="FEF2F2"/>
          </a:solidFill>
          <a:ln/>
        </p:spPr>
      </p:sp>
      <p:sp>
        <p:nvSpPr>
          <p:cNvPr id="28" name="Shape 21"/>
          <p:cNvSpPr/>
          <p:nvPr/>
        </p:nvSpPr>
        <p:spPr>
          <a:xfrm>
            <a:off x="761695" y="8134502"/>
            <a:ext cx="57607" cy="1390802"/>
          </a:xfrm>
          <a:prstGeom prst="roundRect">
            <a:avLst>
              <a:gd name="adj" fmla="val 231747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123798" y="8363102"/>
            <a:ext cx="2162556" cy="256946"/>
          </a:xfrm>
          <a:prstGeom prst="roundRect">
            <a:avLst>
              <a:gd name="adj" fmla="val 14947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123798" y="8363102"/>
            <a:ext cx="216255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GROWTHAI.KR 차별화 선언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23798" y="8715146"/>
            <a:ext cx="160980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강의가 가르치는 것: "어떤 AI 도구 / 어떤 SNS / 어떤 영상 기법" → KLP가 가르치는 것: "언제, 어떤 순서로, 어떻게 공개할 것인가"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1123798" y="9068105"/>
            <a:ext cx="16098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도구는 이미 알고 있습니다. 구조는 아직 없습니다. KLP는 그 구조입니다.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556687" y="304495"/>
            <a:ext cx="265999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16 · NINE LAUNCH TYPES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047695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04861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9가지 런치 유형 — 선택의 역설을 역이용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"너무 많은 런치 유형"이라는 위험을 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포용성(Inclusivity)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전환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유형이 각각 다른 타깃의 "나를 위한 것이 있다"는 확인을 제공합니다. 독자는 자기 선택 효과(Self-Selection Effect)를 경험합니다.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3047695"/>
            <a:ext cx="5477256" cy="1990649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f172a">
                <a:alpha val="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1695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295" y="3305556"/>
            <a:ext cx="609905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90295" y="3305556"/>
            <a:ext cx="6099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01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990295" y="3629254"/>
            <a:ext cx="50200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런치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90295" y="3952951"/>
            <a:ext cx="50200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불안 제거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90295" y="4209898"/>
            <a:ext cx="5020056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990295" y="4209898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90295" y="4209898"/>
            <a:ext cx="502005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"...get paid before you even create the product"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90295" y="4662526"/>
            <a:ext cx="5020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없는 사람의 불안 제거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7201" y="3047695"/>
            <a:ext cx="5477256" cy="1990649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f172a">
                <a:alpha val="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7201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35801" y="3305556"/>
            <a:ext cx="609905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35801" y="3305556"/>
            <a:ext cx="6099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02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6635801" y="3629254"/>
            <a:ext cx="50200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런치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635801" y="3952951"/>
            <a:ext cx="50200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친근감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635801" y="4209898"/>
            <a:ext cx="5020056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6635801" y="4209898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35801" y="4209898"/>
            <a:ext cx="502005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"My favorite launch… reliable strategy"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635801" y="4662526"/>
            <a:ext cx="5020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사업이 있는 사람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2052706" y="3047695"/>
            <a:ext cx="5477256" cy="1990649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f172a">
                <a:alpha val="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12052706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281306" y="3305556"/>
            <a:ext cx="609905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2281306" y="3305556"/>
            <a:ext cx="6099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03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12281306" y="3629254"/>
            <a:ext cx="50200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JV 런치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2281306" y="3952951"/>
            <a:ext cx="50200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성장 욕구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2281306" y="4209898"/>
            <a:ext cx="5020056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</p:sp>
      <p:sp>
        <p:nvSpPr>
          <p:cNvPr id="35" name="Shape 32"/>
          <p:cNvSpPr/>
          <p:nvPr/>
        </p:nvSpPr>
        <p:spPr>
          <a:xfrm>
            <a:off x="12281306" y="4209898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2281306" y="4209898"/>
            <a:ext cx="502005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"Literally 10x your sales results"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2281306" y="4662526"/>
            <a:ext cx="5020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리스트 보유자 / 성장 욕구 강한 사람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61695" y="5205679"/>
            <a:ext cx="5477256" cy="1990649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f172a">
                <a:alpha val="4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61695" y="5205679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90295" y="5462626"/>
            <a:ext cx="609905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90295" y="5462626"/>
            <a:ext cx="6099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04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990295" y="5786323"/>
            <a:ext cx="50200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퀵 런치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990295" y="6110021"/>
            <a:ext cx="50200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시간 부족 해결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90295" y="6367882"/>
            <a:ext cx="5020056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</p:sp>
      <p:sp>
        <p:nvSpPr>
          <p:cNvPr id="45" name="Shape 42"/>
          <p:cNvSpPr/>
          <p:nvPr/>
        </p:nvSpPr>
        <p:spPr>
          <a:xfrm>
            <a:off x="990295" y="6367882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90295" y="6367882"/>
            <a:ext cx="502005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"Don't want to put together a full launch"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990295" y="6819595"/>
            <a:ext cx="5020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없는 사람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407201" y="5205679"/>
            <a:ext cx="5477256" cy="1990649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f172a">
                <a:alpha val="4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07201" y="5205679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635801" y="5462626"/>
            <a:ext cx="609905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35801" y="5462626"/>
            <a:ext cx="6099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05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6635801" y="5786323"/>
            <a:ext cx="50200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에버그린 런치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6635801" y="6110021"/>
            <a:ext cx="50200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수동 소득 욕구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635801" y="6367882"/>
            <a:ext cx="5020056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</p:sp>
      <p:sp>
        <p:nvSpPr>
          <p:cNvPr id="55" name="Shape 52"/>
          <p:cNvSpPr/>
          <p:nvPr/>
        </p:nvSpPr>
        <p:spPr>
          <a:xfrm>
            <a:off x="6635801" y="6367882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635801" y="6367882"/>
            <a:ext cx="502005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"...continue to make sales throughout the year"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6635801" y="6819595"/>
            <a:ext cx="5020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내내 자동 매출 원함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12052706" y="5205679"/>
            <a:ext cx="5477256" cy="1990649"/>
          </a:xfrm>
          <a:prstGeom prst="roundRect">
            <a:avLst>
              <a:gd name="adj" fmla="val 670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f172a">
                <a:alpha val="4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12052706" y="5205679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2281306" y="5462626"/>
            <a:ext cx="609905" cy="228600"/>
          </a:xfrm>
          <a:prstGeom prst="roundRect">
            <a:avLst>
              <a:gd name="adj" fmla="val 1680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2281306" y="5462626"/>
            <a:ext cx="6099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 06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12281306" y="5786323"/>
            <a:ext cx="50200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스파르타 런치</a:t>
            </a:r>
            <a:endParaRPr lang="en-US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2281306" y="6110021"/>
            <a:ext cx="50200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고가 상품 판매자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12281306" y="6367882"/>
            <a:ext cx="5020056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</p:sp>
      <p:sp>
        <p:nvSpPr>
          <p:cNvPr id="65" name="Shape 62"/>
          <p:cNvSpPr/>
          <p:nvPr/>
        </p:nvSpPr>
        <p:spPr>
          <a:xfrm>
            <a:off x="12281306" y="6367882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2281306" y="6367882"/>
            <a:ext cx="502005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101600" rIns="114300" bIns="10160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"Super low-effort and high-return… 100% via email"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12281306" y="6819595"/>
            <a:ext cx="5020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고마진 상품 보유자</a:t>
            </a:r>
            <a:endParaRPr lang="en-US" sz="900" dirty="0"/>
          </a:p>
        </p:txBody>
      </p:sp>
      <p:pic>
        <p:nvPicPr>
          <p:cNvPr id="68" name="Image 1" descr="gen-dedup-26139f66806cb1aad3181c416be8278b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761695" y="8268005"/>
            <a:ext cx="16763695" cy="1257300"/>
          </a:xfrm>
          <a:prstGeom prst="rect">
            <a:avLst/>
          </a:prstGeom>
        </p:spPr>
      </p:pic>
      <p:sp>
        <p:nvSpPr>
          <p:cNvPr id="69" name="Shape 65"/>
          <p:cNvSpPr/>
          <p:nvPr/>
        </p:nvSpPr>
        <p:spPr>
          <a:xfrm>
            <a:off x="1047902" y="8486546"/>
            <a:ext cx="1314907" cy="247802"/>
          </a:xfrm>
          <a:prstGeom prst="roundRect">
            <a:avLst>
              <a:gd name="adj" fmla="val 15498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1047902" y="8486546"/>
            <a:ext cx="131490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핵심 마케팅 기법</a:t>
            </a:r>
            <a:endParaRPr lang="en-US" sz="800" dirty="0"/>
          </a:p>
        </p:txBody>
      </p:sp>
      <p:sp>
        <p:nvSpPr>
          <p:cNvPr id="71" name="Text 67"/>
          <p:cNvSpPr txBox="1"/>
          <p:nvPr/>
        </p:nvSpPr>
        <p:spPr>
          <a:xfrm>
            <a:off x="1047902" y="8810244"/>
            <a:ext cx="1619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유형이 서로 다른 타깃에게 "나를 위한 것이 있다"라는 확인을 동시에 제공합니다</a:t>
            </a:r>
            <a:endParaRPr lang="en-US" sz="1500" dirty="0"/>
          </a:p>
        </p:txBody>
      </p:sp>
      <p:sp>
        <p:nvSpPr>
          <p:cNvPr id="72" name="Text 68"/>
          <p:cNvSpPr txBox="1"/>
          <p:nvPr/>
        </p:nvSpPr>
        <p:spPr>
          <a:xfrm>
            <a:off x="1047902" y="9115654"/>
            <a:ext cx="1619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페이지 안에서 </a:t>
            </a:r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선택 효과(Self-Selection Effect)</a:t>
            </a:r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작동 — 9개 중 하나에 반드시 공명하는 독자가 나타납니다.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151608" y="304495"/>
            <a:ext cx="30595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16 · VALUE STACK ANCHORING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2314346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23152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가치 스택 — 앵커링의 교과서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613941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$18,559의 가치 스택, 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89.2% 체감 할인율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만듭니다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보너스에 개별 가격표를 붙이는 것이 핵심 — 가격이 없는 보너스는 가치가 없어 보이지만 "$997 무료"는 손에 $997을 쥔 느낌을 줍니다.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3047695"/>
            <a:ext cx="10858500" cy="5115154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9" name="Image 1" descr="gen-dedup-0dea71b91e8ef127932e21d3ffcbcac9.png">    </p:cNvPr>
          <p:cNvPicPr>
            <a:picLocks noChangeAspect="1"/>
          </p:cNvPicPr>
          <p:nvPr/>
        </p:nvPicPr>
        <p:blipFill>
          <a:blip r:embed="rId2"/>
          <a:srcRect l="0" r="0" t="-44" b="-44"/>
          <a:stretch/>
        </p:blipFill>
        <p:spPr>
          <a:xfrm>
            <a:off x="780898" y="3066898"/>
            <a:ext cx="10820095" cy="4480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2007" y="3200400"/>
            <a:ext cx="45436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510174" y="3200400"/>
            <a:ext cx="27249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가격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233258" y="3200400"/>
            <a:ext cx="31821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7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가격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80898" y="3877056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72007" y="3600907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프로그램 본체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510174" y="3600907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$1,997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233258" y="3600907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$1,997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0898" y="3886200"/>
            <a:ext cx="10820095" cy="3712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4"/>
          <p:cNvSpPr/>
          <p:nvPr/>
        </p:nvSpPr>
        <p:spPr>
          <a:xfrm>
            <a:off x="780898" y="4248302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72007" y="3972154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코칭 콜 24회 (1년)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510174" y="3972154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$4,728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8233258" y="3972154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80898" y="4619549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72007" y="4343400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Launchy.ai 1년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510174" y="4343400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$1,164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233258" y="4343400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80898" y="4629607"/>
            <a:ext cx="10820095" cy="3712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3"/>
          <p:cNvSpPr/>
          <p:nvPr/>
        </p:nvSpPr>
        <p:spPr>
          <a:xfrm>
            <a:off x="780898" y="4991710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72007" y="4714646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앱 &amp; 커뮤니티 1년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510174" y="4714646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$1,188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8233258" y="4714646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80898" y="5362956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72007" y="5086807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Launching Your List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5510174" y="5086807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$997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233258" y="5086807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80898" y="5372100"/>
            <a:ext cx="10820095" cy="3712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32"/>
          <p:cNvSpPr/>
          <p:nvPr/>
        </p:nvSpPr>
        <p:spPr>
          <a:xfrm>
            <a:off x="780898" y="5734202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72007" y="5458054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Creation Code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510174" y="5458054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$997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8233258" y="5458054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780898" y="6105449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72007" y="5829300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 Quick Start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5510174" y="5829300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$500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233258" y="5829300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80898" y="6115507"/>
            <a:ext cx="10820095" cy="3712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1"/>
          <p:cNvSpPr/>
          <p:nvPr/>
        </p:nvSpPr>
        <p:spPr>
          <a:xfrm>
            <a:off x="780898" y="6477610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72007" y="6200546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 &amp; Launch Examples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5510174" y="6200546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$3,000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8233258" y="6200546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780898" y="6848856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72007" y="6572707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Winning Book Launches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5510174" y="6572707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$497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8233258" y="6572707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780898" y="6858000"/>
            <a:ext cx="10820095" cy="37124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Shape 50"/>
          <p:cNvSpPr/>
          <p:nvPr/>
        </p:nvSpPr>
        <p:spPr>
          <a:xfrm>
            <a:off x="780898" y="7220102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972007" y="6943954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Launch Partnerships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5510174" y="6943954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$997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8233258" y="6943954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780898" y="7591349"/>
            <a:ext cx="108200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972007" y="7315200"/>
            <a:ext cx="45436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Advanced Launch Multipliers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5510174" y="7315200"/>
            <a:ext cx="27249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$1,997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8233258" y="7315200"/>
            <a:ext cx="31821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무료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780898" y="7601407"/>
            <a:ext cx="10820095" cy="54315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63" name="Shape 59"/>
          <p:cNvSpPr/>
          <p:nvPr/>
        </p:nvSpPr>
        <p:spPr>
          <a:xfrm>
            <a:off x="780898" y="7601407"/>
            <a:ext cx="10820095" cy="283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972007" y="7787030"/>
            <a:ext cx="4543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가치 / 실제 가격</a:t>
            </a:r>
            <a:endParaRPr lang="en-US" sz="1100" dirty="0"/>
          </a:p>
        </p:txBody>
      </p:sp>
      <p:sp>
        <p:nvSpPr>
          <p:cNvPr id="65" name="Text 61"/>
          <p:cNvSpPr txBox="1"/>
          <p:nvPr/>
        </p:nvSpPr>
        <p:spPr>
          <a:xfrm>
            <a:off x="5510174" y="7763256"/>
            <a:ext cx="27249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$18,559</a:t>
            </a:r>
            <a:endParaRPr lang="en-US" sz="1300" dirty="0"/>
          </a:p>
        </p:txBody>
      </p:sp>
      <p:sp>
        <p:nvSpPr>
          <p:cNvPr id="66" name="Text 62"/>
          <p:cNvSpPr txBox="1"/>
          <p:nvPr/>
        </p:nvSpPr>
        <p:spPr>
          <a:xfrm>
            <a:off x="8233258" y="7763256"/>
            <a:ext cx="31821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$1,997</a:t>
            </a:r>
            <a:endParaRPr lang="en-US" sz="1300" dirty="0"/>
          </a:p>
        </p:txBody>
      </p:sp>
      <p:pic>
        <p:nvPicPr>
          <p:cNvPr id="67" name="Image 2" descr="gen-dedup-f72163116188a47a27e055113edc5001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12191695" y="3047695"/>
            <a:ext cx="5333695" cy="1790395"/>
          </a:xfrm>
          <a:prstGeom prst="rect">
            <a:avLst/>
          </a:prstGeom>
        </p:spPr>
      </p:pic>
      <p:sp>
        <p:nvSpPr>
          <p:cNvPr id="68" name="Text 63"/>
          <p:cNvSpPr txBox="1"/>
          <p:nvPr/>
        </p:nvSpPr>
        <p:spPr>
          <a:xfrm>
            <a:off x="12477902" y="3333902"/>
            <a:ext cx="4763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225" kern="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체감 할인율</a:t>
            </a:r>
            <a:endParaRPr lang="en-US" sz="900" dirty="0"/>
          </a:p>
        </p:txBody>
      </p:sp>
      <p:sp>
        <p:nvSpPr>
          <p:cNvPr id="69" name="Text 64"/>
          <p:cNvSpPr txBox="1"/>
          <p:nvPr/>
        </p:nvSpPr>
        <p:spPr>
          <a:xfrm>
            <a:off x="12477902" y="3590849"/>
            <a:ext cx="476311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89.2%</a:t>
            </a:r>
            <a:endParaRPr lang="en-US" sz="5400" dirty="0"/>
          </a:p>
        </p:txBody>
      </p:sp>
      <p:sp>
        <p:nvSpPr>
          <p:cNvPr id="70" name="Text 65"/>
          <p:cNvSpPr txBox="1"/>
          <p:nvPr/>
        </p:nvSpPr>
        <p:spPr>
          <a:xfrm>
            <a:off x="12477902" y="4352544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9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받지 않으면 $16,562를 잃습니다</a:t>
            </a:r>
            <a:endParaRPr lang="en-US" sz="1100" dirty="0"/>
          </a:p>
        </p:txBody>
      </p:sp>
      <p:sp>
        <p:nvSpPr>
          <p:cNvPr id="71" name="Shape 66"/>
          <p:cNvSpPr/>
          <p:nvPr/>
        </p:nvSpPr>
        <p:spPr>
          <a:xfrm>
            <a:off x="12191695" y="5009998"/>
            <a:ext cx="5333695" cy="1304849"/>
          </a:xfrm>
          <a:prstGeom prst="roundRect">
            <a:avLst>
              <a:gd name="adj" fmla="val 10231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12420295" y="5257800"/>
            <a:ext cx="1676095" cy="228600"/>
          </a:xfrm>
          <a:prstGeom prst="roundRect">
            <a:avLst>
              <a:gd name="adj" fmla="val 16800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12420295" y="5257800"/>
            <a:ext cx="16770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KAHNEMAN 손실 회피</a:t>
            </a:r>
            <a:endParaRPr lang="en-US" sz="800" dirty="0"/>
          </a:p>
        </p:txBody>
      </p:sp>
      <p:sp>
        <p:nvSpPr>
          <p:cNvPr id="74" name="Text 69"/>
          <p:cNvSpPr txBox="1"/>
          <p:nvPr/>
        </p:nvSpPr>
        <p:spPr>
          <a:xfrm>
            <a:off x="12420295" y="5600700"/>
            <a:ext cx="48774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"$997 무료라고 쓰인 보너스는 실제로 </a:t>
            </a:r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$997을 손에 쥔 느낌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 → 이 개 한 개가 이미 구매 전환을 만든다.</a:t>
            </a:r>
            <a:endParaRPr lang="en-US" sz="1300" dirty="0"/>
          </a:p>
        </p:txBody>
      </p:sp>
      <p:sp>
        <p:nvSpPr>
          <p:cNvPr id="75" name="Shape 70"/>
          <p:cNvSpPr/>
          <p:nvPr/>
        </p:nvSpPr>
        <p:spPr>
          <a:xfrm>
            <a:off x="761695" y="8544154"/>
            <a:ext cx="16763695" cy="790956"/>
          </a:xfrm>
          <a:prstGeom prst="roundRect">
            <a:avLst>
              <a:gd name="adj" fmla="val 1687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1067105" y="8848649"/>
            <a:ext cx="73975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공식</a:t>
            </a:r>
            <a:endParaRPr lang="en-US" sz="900" dirty="0"/>
          </a:p>
        </p:txBody>
      </p:sp>
      <p:sp>
        <p:nvSpPr>
          <p:cNvPr id="77" name="Text 72"/>
          <p:cNvSpPr txBox="1"/>
          <p:nvPr/>
        </p:nvSpPr>
        <p:spPr>
          <a:xfrm>
            <a:off x="1899209" y="8772754"/>
            <a:ext cx="61438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체감 할인율 = </a:t>
            </a:r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$18,559 - $1,997</a:t>
            </a:r>
            <a:pPr algn="l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</a:t>
            </a:r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$18,559</a:t>
            </a:r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</a:t>
            </a:r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89.2%</a:t>
            </a:r>
            <a:endParaRPr lang="en-US" sz="1800" dirty="0"/>
          </a:p>
        </p:txBody>
      </p:sp>
      <p:sp>
        <p:nvSpPr>
          <p:cNvPr id="78" name="Shape 73"/>
          <p:cNvSpPr/>
          <p:nvPr/>
        </p:nvSpPr>
        <p:spPr>
          <a:xfrm>
            <a:off x="761695" y="9482328"/>
            <a:ext cx="16763695" cy="523951"/>
          </a:xfrm>
          <a:prstGeom prst="roundRect">
            <a:avLst>
              <a:gd name="adj" fmla="val 18150"/>
            </a:avLst>
          </a:prstGeom>
          <a:solidFill>
            <a:srgbClr val="EFF6FF"/>
          </a:solidFill>
          <a:ln/>
        </p:spPr>
      </p:sp>
      <p:sp>
        <p:nvSpPr>
          <p:cNvPr id="79" name="Shape 74"/>
          <p:cNvSpPr/>
          <p:nvPr/>
        </p:nvSpPr>
        <p:spPr>
          <a:xfrm>
            <a:off x="761695" y="9482328"/>
            <a:ext cx="47549" cy="523951"/>
          </a:xfrm>
          <a:prstGeom prst="roundRect">
            <a:avLst>
              <a:gd name="adj" fmla="val 19999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761695" y="9482328"/>
            <a:ext cx="16764610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28600" tIns="152400" rIns="228600" bIns="152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한국화 적용: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KLP 8주 클래스 ₩197,000 / 그룹 코칭 ₩480,000·AI 카피 킷 ₩49,000·7일 이메일 템플릿 ₩39,000·카카오 알림 스크립트 ₩29,000 = </a:t>
            </a:r>
            <a:pPr algn="l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₩794,000 상당 → 실제 ₩197,000 (75% 절감)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601493" y="304495"/>
            <a:ext cx="256214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16 · PERSONA SECTIONS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552444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5533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퍼소나별 설득 — 1페이지에서 N명을 동시에 설득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91477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페이지 안에 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6개의 서로 다른 세일즈 레터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Walker는 한 페이지 안에서 6개의 다른 타깃에게 각각의 설득 메시지를 씁니다. 긴 세일즈 페이지가 짧은 것보다 높은 전환율을 보이는 이유입니다.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3047695"/>
            <a:ext cx="5477256" cy="2095805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1695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295" y="3323844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90295" y="3323844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· ①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990295" y="3685946"/>
            <a:ext cx="50200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Just Starting Out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90295" y="4038905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제품도 없고 시장도 모름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90295" y="4304995"/>
            <a:ext cx="50200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시드 런치로 멤버십 모집 → 제품 만드세요</a:t>
            </a:r>
            <a:endParaRPr lang="en-US" sz="1000" dirty="0"/>
          </a:p>
        </p:txBody>
      </p:sp>
      <p:pic>
        <p:nvPicPr>
          <p:cNvPr id="15" name="Image 1" descr="gen-dedup-de8ba29a902233155bed8db6cf074e05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90295" y="4619549"/>
            <a:ext cx="5016398" cy="91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90295" y="4724705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algn="l"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"제품 만들기 전에 첫 결제를 받았다"</a:t>
            </a:r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시드 런치의 가장 강력한 약속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7201" y="3047695"/>
            <a:ext cx="5477256" cy="2095805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7201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35801" y="3323844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35801" y="3323844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· ②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635801" y="3685946"/>
            <a:ext cx="50200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Already Have a Business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635801" y="4038905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사업은 있는데 성장 정체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635801" y="4304995"/>
            <a:ext cx="50200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PSLF / 내부 리스트 활용 내부 런치</a:t>
            </a:r>
            <a:endParaRPr lang="en-US" sz="1000" dirty="0"/>
          </a:p>
        </p:txBody>
      </p:sp>
      <p:pic>
        <p:nvPicPr>
          <p:cNvPr id="24" name="Image 2" descr="gen-dedup-de8ba29a902233155bed8db6cf074e05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6635801" y="4619549"/>
            <a:ext cx="5016398" cy="91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635801" y="4724705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algn="l"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보유한 자산을 재발견</a:t>
            </a:r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관점의 전환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2052706" y="3047695"/>
            <a:ext cx="5477256" cy="2095805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2052706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2281306" y="3323844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2281306" y="3323844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· ③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12281306" y="3685946"/>
            <a:ext cx="50200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1-on-1 to Leveraged Income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12281306" y="4038905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1:1 코칭의 시간 한계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2281306" y="4304995"/>
            <a:ext cx="50200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1명당 시간 → 100명에게 한 번에</a:t>
            </a:r>
            <a:endParaRPr lang="en-US" sz="1000" dirty="0"/>
          </a:p>
        </p:txBody>
      </p:sp>
      <p:pic>
        <p:nvPicPr>
          <p:cNvPr id="33" name="Image 3" descr="gen-dedup-de8ba29a902233155bed8db6cf074e05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2281306" y="4619549"/>
            <a:ext cx="5016398" cy="91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2281306" y="4724705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algn="l"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"시간을 파는 구조에서 구조를 파는 구조"</a:t>
            </a:r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로의 전환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61695" y="5309921"/>
            <a:ext cx="5477256" cy="2095805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61695" y="5309921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90295" y="5586070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990295" y="5586070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· ④</a:t>
            </a:r>
            <a:endParaRPr lang="en-US" sz="800" dirty="0"/>
          </a:p>
        </p:txBody>
      </p:sp>
      <p:sp>
        <p:nvSpPr>
          <p:cNvPr id="39" name="Text 33"/>
          <p:cNvSpPr txBox="1"/>
          <p:nvPr/>
        </p:nvSpPr>
        <p:spPr>
          <a:xfrm>
            <a:off x="990295" y="5948172"/>
            <a:ext cx="50200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Influencers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990295" y="6301130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팔로워는 많은데 매출 0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990295" y="6567221"/>
            <a:ext cx="50200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영향력 → 수익 전환 채널 설계</a:t>
            </a:r>
            <a:endParaRPr lang="en-US" sz="1000" dirty="0"/>
          </a:p>
        </p:txBody>
      </p:sp>
      <p:pic>
        <p:nvPicPr>
          <p:cNvPr id="42" name="Image 4" descr="gen-dedup-de8ba29a902233155bed8db6cf074e05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990295" y="6881774"/>
            <a:ext cx="5016398" cy="9144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990295" y="6986930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인플루언서 자산에 </a:t>
            </a:r>
            <a:pPr algn="l"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인프라를 얹는</a:t>
            </a:r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작업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407201" y="5309921"/>
            <a:ext cx="5477256" cy="2095805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407201" y="5309921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635801" y="5586070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6635801" y="5586070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· ⑤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6635801" y="5948172"/>
            <a:ext cx="50200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Starving Artists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6635801" y="6301130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창작자는 마케팅을 모른다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6635801" y="6567221"/>
            <a:ext cx="50200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예술 + 자동 판매 시스템 결합</a:t>
            </a:r>
            <a:endParaRPr lang="en-US" sz="1000" dirty="0"/>
          </a:p>
        </p:txBody>
      </p:sp>
      <p:pic>
        <p:nvPicPr>
          <p:cNvPr id="51" name="Image 5" descr="gen-dedup-de8ba29a902233155bed8db6cf074e05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6635801" y="6881774"/>
            <a:ext cx="5016398" cy="9144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635801" y="6986930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작가·아티스트·코치가 </a:t>
            </a:r>
            <a:pPr algn="l"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굶지 않고 일하는 법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12052706" y="5309921"/>
            <a:ext cx="5477256" cy="2095805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2052706" y="5309921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12281306" y="5586070"/>
            <a:ext cx="685800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12281306" y="5586070"/>
            <a:ext cx="6858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 · ⑥</a:t>
            </a:r>
            <a:endParaRPr lang="en-US" sz="800" dirty="0"/>
          </a:p>
        </p:txBody>
      </p:sp>
      <p:sp>
        <p:nvSpPr>
          <p:cNvPr id="57" name="Text 49"/>
          <p:cNvSpPr txBox="1"/>
          <p:nvPr/>
        </p:nvSpPr>
        <p:spPr>
          <a:xfrm>
            <a:off x="12281306" y="5948172"/>
            <a:ext cx="50200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Helping Others Launch</a:t>
            </a:r>
            <a:endParaRPr lang="en-US" sz="1500" dirty="0"/>
          </a:p>
        </p:txBody>
      </p:sp>
      <p:sp>
        <p:nvSpPr>
          <p:cNvPr id="58" name="Text 50"/>
          <p:cNvSpPr txBox="1"/>
          <p:nvPr/>
        </p:nvSpPr>
        <p:spPr>
          <a:xfrm>
            <a:off x="12281306" y="6301130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남을 런치시키고 싶다 (에이전시)</a:t>
            </a:r>
            <a:endParaRPr lang="en-US" sz="1000" dirty="0"/>
          </a:p>
        </p:txBody>
      </p:sp>
      <p:sp>
        <p:nvSpPr>
          <p:cNvPr id="59" name="Text 51"/>
          <p:cNvSpPr txBox="1"/>
          <p:nvPr/>
        </p:nvSpPr>
        <p:spPr>
          <a:xfrm>
            <a:off x="12281306" y="6567221"/>
            <a:ext cx="50200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PLF를 클라이언트에게 제공하기</a:t>
            </a:r>
            <a:endParaRPr lang="en-US" sz="1000" dirty="0"/>
          </a:p>
        </p:txBody>
      </p:sp>
      <p:pic>
        <p:nvPicPr>
          <p:cNvPr id="60" name="Image 6" descr="gen-dedup-de8ba29a902233155bed8db6cf074e05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12281306" y="6881774"/>
            <a:ext cx="5016398" cy="9144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2281306" y="6986930"/>
            <a:ext cx="50200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pPr algn="l"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런치 구조 자체가 새로운 서비스 상품</a:t>
            </a:r>
            <a:pPr algn="l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된다</a:t>
            </a:r>
            <a:endParaRPr lang="en-US" sz="900" dirty="0"/>
          </a:p>
        </p:txBody>
      </p:sp>
      <p:pic>
        <p:nvPicPr>
          <p:cNvPr id="62" name="Image 7" descr="gen-dedup-1d73be890ab087c4e8bffb55dc6ef792.png">    </p:cNvPr>
          <p:cNvPicPr>
            <a:picLocks noChangeAspect="1"/>
          </p:cNvPicPr>
          <p:nvPr/>
        </p:nvPicPr>
        <p:blipFill>
          <a:blip r:embed="rId8"/>
          <a:srcRect l="0" r="0" t="-13" b="-13"/>
          <a:stretch/>
        </p:blipFill>
        <p:spPr>
          <a:xfrm>
            <a:off x="761695" y="8139074"/>
            <a:ext cx="16763695" cy="1386230"/>
          </a:xfrm>
          <a:prstGeom prst="rect">
            <a:avLst/>
          </a:prstGeom>
        </p:spPr>
      </p:pic>
      <p:sp>
        <p:nvSpPr>
          <p:cNvPr id="63" name="Shape 53"/>
          <p:cNvSpPr/>
          <p:nvPr/>
        </p:nvSpPr>
        <p:spPr>
          <a:xfrm>
            <a:off x="1047902" y="8376818"/>
            <a:ext cx="2686507" cy="247802"/>
          </a:xfrm>
          <a:prstGeom prst="roundRect">
            <a:avLst>
              <a:gd name="adj" fmla="val 15498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1047902" y="8376818"/>
            <a:ext cx="268650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GROWTHAI.KR 한국화 4-페르소나 적용</a:t>
            </a:r>
            <a:endParaRPr lang="en-US" sz="800" dirty="0"/>
          </a:p>
        </p:txBody>
      </p:sp>
      <p:sp>
        <p:nvSpPr>
          <p:cNvPr id="65" name="Text 55"/>
          <p:cNvSpPr txBox="1"/>
          <p:nvPr/>
        </p:nvSpPr>
        <p:spPr>
          <a:xfrm>
            <a:off x="1047902" y="8701430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4가지 한국형 페르소나 — 각각 별도 설득 섹션이 필요합니다</a:t>
            </a:r>
            <a:endParaRPr lang="en-US" sz="1600" dirty="0"/>
          </a:p>
        </p:txBody>
      </p:sp>
      <p:sp>
        <p:nvSpPr>
          <p:cNvPr id="66" name="Text 56"/>
          <p:cNvSpPr txBox="1"/>
          <p:nvPr/>
        </p:nvSpPr>
        <p:spPr>
          <a:xfrm>
            <a:off x="1047902" y="9081821"/>
            <a:ext cx="16193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강의 만들었는데 아무도 안 사는 분</a:t>
            </a:r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② </a:t>
            </a:r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블로그·영상 있는데 구독자만 늘고 결제가 없는 분</a:t>
            </a:r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③ </a:t>
            </a:r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코칭 중인데 시간 한계에 부딪힌 분</a:t>
            </a:r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④ </a:t>
            </a:r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 다니며 부업으로 시작하려는 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00986" y="304495"/>
            <a:ext cx="30577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16 · AI OBJECTION HANDLING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4153205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41532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Launchy.ai — 2026년 가장 강력한 잠재 반론 선제 처리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ChatGPT로 그냥 카피 쓰면 되지 않나요?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Walker의 대답은 명확합니다 — "맞다, 하지만 PLF 전략에 맞게 훈련된 AI는 다르다."</a:t>
            </a:r>
            <a:endParaRPr lang="en-US" sz="1500" dirty="0"/>
          </a:p>
        </p:txBody>
      </p:sp>
      <p:pic>
        <p:nvPicPr>
          <p:cNvPr id="7" name="Image 0" descr="gen-dedup-3ff6d97af7fe9e7c10e39d175e8787f2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pic>
        <p:nvPicPr>
          <p:cNvPr id="8" name="Image 1" descr="gen-dedup-ae808835b9df66828967484f50d801e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" y="3047695"/>
            <a:ext cx="16763695" cy="196778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18895" y="3333902"/>
            <a:ext cx="3124505" cy="276149"/>
          </a:xfrm>
          <a:prstGeom prst="roundRect">
            <a:avLst>
              <a:gd name="adj" fmla="val 13907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218895" y="3333902"/>
            <a:ext cx="312450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잠재 반론 (방문자가 머릿속에 품고 있는 질문)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218895" y="3724351"/>
            <a:ext cx="159261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"ChatGPT로 카피 쓰면 되는데, 왜 이런 강의가 필요한가?"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1218895" y="4234586"/>
            <a:ext cx="15926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"...the PLF strategy was always the core skill, but you also needed to have at least a basic grasp of how to write marketing copy… Launchy.ai removes those hurdles. You don't have to face the blank page anymore."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61695" y="4957877"/>
            <a:ext cx="5438851" cy="1362456"/>
          </a:xfrm>
          <a:prstGeom prst="roundRect">
            <a:avLst>
              <a:gd name="adj" fmla="val 9799"/>
            </a:avLst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47902" y="5214823"/>
            <a:ext cx="1295705" cy="237744"/>
          </a:xfrm>
          <a:prstGeom prst="roundRect">
            <a:avLst>
              <a:gd name="adj" fmla="val 16154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47902" y="5214823"/>
            <a:ext cx="12957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FORMULA vs AI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47902" y="5567782"/>
            <a:ext cx="4867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"PLF 전략 + Launchy.ai = Blank Page 제거"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47902" y="5870448"/>
            <a:ext cx="504383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PLF는 구조, Launchy.ai는 실행 —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개가 결합되면 카피 작성이 0이 된다.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26403" y="4858207"/>
            <a:ext cx="5438851" cy="1561795"/>
          </a:xfrm>
          <a:prstGeom prst="roundRect">
            <a:avLst>
              <a:gd name="adj" fmla="val 8548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11696" y="5115154"/>
            <a:ext cx="743407" cy="237744"/>
          </a:xfrm>
          <a:prstGeom prst="roundRect">
            <a:avLst>
              <a:gd name="adj" fmla="val 16154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711696" y="5115154"/>
            <a:ext cx="7434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실증 결과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711696" y="5467198"/>
            <a:ext cx="4867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Stacie Bloomfield: 1주 만에 $60,000+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711696" y="5749747"/>
            <a:ext cx="48673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"With Launchy's help, I generated </a:t>
            </a:r>
            <a:pPr algn="l" indent="0" marL="0">
              <a:lnSpc>
                <a:spcPts val="1575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 $60,000 with my offer in one week.</a:t>
            </a:r>
            <a:pPr algn="l" indent="0" marL="0">
              <a:lnSpc>
                <a:spcPts val="1575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pPr algn="l" indent="0" marL="0">
              <a:lnSpc>
                <a:spcPts val="1575"/>
              </a:lnSpc>
              <a:buNone/>
            </a:pPr>
            <a:endParaRPr lang="en-US" sz="100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 = 수익 가속기라는 등식을 즉시 표현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2090197" y="4858207"/>
            <a:ext cx="5438851" cy="1561795"/>
          </a:xfrm>
          <a:prstGeom prst="roundRect">
            <a:avLst>
              <a:gd name="adj" fmla="val 8548"/>
            </a:avLst>
          </a:prstGeom>
          <a:solidFill>
            <a:srgbClr val="EFF6FF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2376404" y="5115154"/>
            <a:ext cx="895198" cy="237744"/>
          </a:xfrm>
          <a:prstGeom prst="roundRect">
            <a:avLst>
              <a:gd name="adj" fmla="val 16154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2376404" y="5115154"/>
            <a:ext cx="8961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한국화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2376404" y="5467198"/>
            <a:ext cx="48673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"런치 구조에 맞게 설계된 프롬프트"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2376404" y="5769864"/>
            <a:ext cx="48673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일반 카피 ≠ KLP 런치 카피 킷.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후자만 구매 욕구가 정점에 달하는 순간을 만듭니다.</a:t>
            </a:r>
            <a:endParaRPr lang="en-US" sz="1000" dirty="0"/>
          </a:p>
        </p:txBody>
      </p:sp>
      <p:pic>
        <p:nvPicPr>
          <p:cNvPr id="28" name="Image 2" descr="gen-dedup-fba19f0785c3240f87e52699875b998d.png">    </p:cNvPr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761695" y="8791956"/>
            <a:ext cx="16763695" cy="733349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067105" y="9020556"/>
            <a:ext cx="1000354" cy="276149"/>
          </a:xfrm>
          <a:prstGeom prst="roundRect">
            <a:avLst>
              <a:gd name="adj" fmla="val 13907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067105" y="9020556"/>
            <a:ext cx="10003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핵심 카피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2371039" y="9025128"/>
            <a:ext cx="1188354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"ChatGPT로 카피를 쓰는 것과, 런치 구조에 맞게 설계된 프롬프트로 카피를 쓰는 것은 다릅니다. 우리는 후자를 제공합니다."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35733" y="304495"/>
            <a:ext cx="295991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16 · HORMOZI $100M OFFERS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800246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80116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PLF 기법 × Hormozi — 거절할 수 없는 오퍼 설계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가격이 높아도 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가치는 무한히 커질 수 있습니다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Alex Hormozi의 $100M Offers 공식 — 분모(시간·노력)를 줄이고 분자(결과·가능성)를 높이면 가치는 무한대로 갑니다.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pic>
        <p:nvPicPr>
          <p:cNvPr id="8" name="Image 1" descr="gen-dedup-557807e4bf9f2361e49159d670dcc136.png">    </p:cNvPr>
          <p:cNvPicPr>
            <a:picLocks noChangeAspect="1"/>
          </p:cNvPicPr>
          <p:nvPr/>
        </p:nvPicPr>
        <p:blipFill>
          <a:blip r:embed="rId2"/>
          <a:srcRect l="0" r="0" t="-10" b="-10"/>
          <a:stretch/>
        </p:blipFill>
        <p:spPr>
          <a:xfrm>
            <a:off x="761695" y="3047695"/>
            <a:ext cx="16763695" cy="19129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8098" y="3429000"/>
            <a:ext cx="15811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$100M OFFERS — VALUE EQUATION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238098" y="3743554"/>
            <a:ext cx="158118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= </a:t>
            </a:r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꿈의 결과 × 달성 가능성</a:t>
            </a:r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</a:t>
            </a:r>
            <a:pPr algn="ctr" indent="0" marL="0">
              <a:buNone/>
            </a:pPr>
            <a:r>
              <a:rPr lang="en-US" sz="3600" b="1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소요 시간 × 필요 노력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1238098" y="4379976"/>
            <a:ext cx="1581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분자를 키우고 분모를 줄이는 모든 행위가 곧 "가치 상승"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61695" y="4953305"/>
            <a:ext cx="40763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1695" y="4953305"/>
            <a:ext cx="4076395" cy="47549"/>
          </a:xfrm>
          <a:prstGeom prst="roundRect">
            <a:avLst>
              <a:gd name="adj" fmla="val 28076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72007" y="5191049"/>
            <a:ext cx="533095" cy="228600"/>
          </a:xfrm>
          <a:prstGeom prst="roundRect">
            <a:avLst>
              <a:gd name="adj" fmla="val 168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72007" y="5191049"/>
            <a:ext cx="5340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분자 +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972007" y="5514746"/>
            <a:ext cx="3657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꿈의 결과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72007" y="5772607"/>
            <a:ext cx="36576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인식: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"언젠가 팔리겠지"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72007" y="6021324"/>
            <a:ext cx="3657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적용: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"첫 런치에서 최소 100만원 결제"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90795" y="4953305"/>
            <a:ext cx="40763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990795" y="4953305"/>
            <a:ext cx="4076395" cy="47549"/>
          </a:xfrm>
          <a:prstGeom prst="roundRect">
            <a:avLst>
              <a:gd name="adj" fmla="val 28076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01107" y="5191049"/>
            <a:ext cx="533095" cy="228600"/>
          </a:xfrm>
          <a:prstGeom prst="roundRect">
            <a:avLst>
              <a:gd name="adj" fmla="val 168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201107" y="5191049"/>
            <a:ext cx="5340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분자 +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5201107" y="5514746"/>
            <a:ext cx="3657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가능성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201107" y="5772607"/>
            <a:ext cx="36576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인식: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"나는 마케팅을 모른다"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201107" y="6021324"/>
            <a:ext cx="3657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적용: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"케이스 스터디가 증명한 구조"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9219895" y="4953305"/>
            <a:ext cx="40763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219895" y="4953305"/>
            <a:ext cx="4076395" cy="47549"/>
          </a:xfrm>
          <a:prstGeom prst="roundRect">
            <a:avLst>
              <a:gd name="adj" fmla="val 28076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430207" y="5191049"/>
            <a:ext cx="533095" cy="228600"/>
          </a:xfrm>
          <a:prstGeom prst="roundRect">
            <a:avLst>
              <a:gd name="adj" fmla="val 16800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430207" y="5191049"/>
            <a:ext cx="5340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분모 −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9430207" y="5514746"/>
            <a:ext cx="3657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소요 시간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9430207" y="5772607"/>
            <a:ext cx="36576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인식: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"몇 달 걸리겠지"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9430207" y="6021324"/>
            <a:ext cx="3657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적용: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"8주, 주 3시간 투자"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13448995" y="4953305"/>
            <a:ext cx="40763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3448995" y="4953305"/>
            <a:ext cx="4076395" cy="47549"/>
          </a:xfrm>
          <a:prstGeom prst="roundRect">
            <a:avLst>
              <a:gd name="adj" fmla="val 28076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3659307" y="5191049"/>
            <a:ext cx="533095" cy="228600"/>
          </a:xfrm>
          <a:prstGeom prst="roundRect">
            <a:avLst>
              <a:gd name="adj" fmla="val 16800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3659307" y="5191049"/>
            <a:ext cx="5340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분모 −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3659307" y="5514746"/>
            <a:ext cx="3657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노력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13659307" y="5772607"/>
            <a:ext cx="36576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인식: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"카피, 영상, 기술 다 배워야"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3659307" y="6021324"/>
            <a:ext cx="3657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적용: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"AI가 카피 + 템플릿이 구조"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761695" y="8421624"/>
            <a:ext cx="16763695" cy="1104595"/>
          </a:xfrm>
          <a:prstGeom prst="roundRect">
            <a:avLst>
              <a:gd name="adj" fmla="val 12086"/>
            </a:avLst>
          </a:prstGeom>
          <a:solidFill>
            <a:srgbClr val="FFFBEB"/>
          </a:solidFill>
          <a:ln/>
        </p:spPr>
      </p:sp>
      <p:sp>
        <p:nvSpPr>
          <p:cNvPr id="41" name="Shape 37"/>
          <p:cNvSpPr/>
          <p:nvPr/>
        </p:nvSpPr>
        <p:spPr>
          <a:xfrm>
            <a:off x="761695" y="8421624"/>
            <a:ext cx="57607" cy="1104595"/>
          </a:xfrm>
          <a:prstGeom prst="roundRect">
            <a:avLst>
              <a:gd name="adj" fmla="val 231747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23798" y="8660282"/>
            <a:ext cx="1543507" cy="247802"/>
          </a:xfrm>
          <a:prstGeom prst="roundRect">
            <a:avLst>
              <a:gd name="adj" fmla="val 15498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123798" y="8660282"/>
            <a:ext cx="154350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세일즈 헤드라인 번역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1123798" y="9003182"/>
            <a:ext cx="16098012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"마케팅 경험 없어도, AI 도구로 8주 안에 첫 런치를 완성하고 최소 100만원 결제를 만드는 구조 — KLP 클래스"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440558" y="304495"/>
            <a:ext cx="275965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16 · PRICING PSYCHOLOGY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590849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5917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⑩ 가격 제시 — "어떻게 낼 것인가" 프레임의 심리학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"살 것인가 말 것인가"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우회하는 2단계 구조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프레임을 "구매/비구매" → "월 구독 vs 일시불"로 이동시켜, 가격 저항을 자연스럽게 격하합니다.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pic>
        <p:nvPicPr>
          <p:cNvPr id="8" name="Image 1" descr="gen-dedup-4e3bf19c9a50f2cc60b64dad6a587c21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761695" y="3047695"/>
            <a:ext cx="8248802" cy="389808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62202" y="3409798"/>
            <a:ext cx="74487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OPTION A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62202" y="3724351"/>
            <a:ext cx="74487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 Monthly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162202" y="4250131"/>
            <a:ext cx="7448702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</a:t>
            </a:r>
            <a:pPr algn="l" indent="0" marL="0">
              <a:buNone/>
            </a:pPr>
            <a:r>
              <a:rPr lang="en-US" sz="55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397 </a:t>
            </a:r>
            <a:pPr algn="l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 6회</a:t>
            </a:r>
            <a:endParaRPr lang="en-US" sz="5500" dirty="0"/>
          </a:p>
        </p:txBody>
      </p:sp>
      <p:sp>
        <p:nvSpPr>
          <p:cNvPr id="12" name="Text 8"/>
          <p:cNvSpPr txBox="1"/>
          <p:nvPr/>
        </p:nvSpPr>
        <p:spPr>
          <a:xfrm>
            <a:off x="1162202" y="5088636"/>
            <a:ext cx="74487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분할 결제 = 총 $2,382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62202" y="5526634"/>
            <a:ext cx="7448702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부담 $397 낮음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코스 접근 가능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일시불 전용 보너스 제외</a:t>
            </a:r>
            <a:endParaRPr lang="en-US" sz="1200" dirty="0"/>
          </a:p>
        </p:txBody>
      </p:sp>
      <p:pic>
        <p:nvPicPr>
          <p:cNvPr id="14" name="Image 2" descr="gen-dedup-0f1c691bec0f1ab07cffdf83f033b3d4.png">    </p:cNvPr>
          <p:cNvPicPr>
            <a:picLocks noChangeAspect="1"/>
          </p:cNvPicPr>
          <p:nvPr/>
        </p:nvPicPr>
        <p:blipFill>
          <a:blip r:embed="rId3"/>
          <a:srcRect l="0" r="0" t="-5" b="-5"/>
          <a:stretch/>
        </p:blipFill>
        <p:spPr>
          <a:xfrm>
            <a:off x="9277502" y="3047695"/>
            <a:ext cx="8248802" cy="38980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471355" y="3311042"/>
            <a:ext cx="78684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OPTION B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9471355" y="3640226"/>
            <a:ext cx="78684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In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9471355" y="4192524"/>
            <a:ext cx="7868412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</a:t>
            </a:r>
            <a:pPr algn="l" indent="0" marL="0">
              <a:buNone/>
            </a:pPr>
            <a:r>
              <a:rPr lang="en-US" sz="55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1,997 </a:t>
            </a:r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일시불</a:t>
            </a:r>
            <a:endParaRPr lang="en-US" sz="5500" dirty="0"/>
          </a:p>
        </p:txBody>
      </p:sp>
      <p:sp>
        <p:nvSpPr>
          <p:cNvPr id="18" name="Text 13"/>
          <p:cNvSpPr txBox="1"/>
          <p:nvPr/>
        </p:nvSpPr>
        <p:spPr>
          <a:xfrm>
            <a:off x="9471355" y="5073091"/>
            <a:ext cx="78684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결제 + 추가 보너스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471355" y="5533034"/>
            <a:ext cx="7868412" cy="111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$385 더 저렴 ($2,382 vs $1,997)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 Mastery 보너스 포함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런치 전략 우선 접근</a:t>
            </a:r>
            <a:endParaRPr lang="en-US" sz="1200" dirty="0"/>
          </a:p>
        </p:txBody>
      </p:sp>
      <p:pic>
        <p:nvPicPr>
          <p:cNvPr id="20" name="Image 3" descr="gen-dedup-b2600b3e29febf4101b11c42584c0ab0.png">    </p:cNvPr>
          <p:cNvPicPr>
            <a:picLocks noChangeAspect="1"/>
          </p:cNvPicPr>
          <p:nvPr/>
        </p:nvPicPr>
        <p:blipFill>
          <a:blip r:embed="rId4"/>
          <a:srcRect l="0" r="0" t="-14" b="-14"/>
          <a:stretch/>
        </p:blipFill>
        <p:spPr>
          <a:xfrm>
            <a:off x="15490850" y="2770632"/>
            <a:ext cx="1943100" cy="3904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490850" y="2770632"/>
            <a:ext cx="19431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 MOST POPULAR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61695" y="8296351"/>
            <a:ext cx="16763695" cy="1228954"/>
          </a:xfrm>
          <a:prstGeom prst="roundRect">
            <a:avLst>
              <a:gd name="adj" fmla="val 10863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1047902" y="8820302"/>
            <a:ext cx="69220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비교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1861718" y="8524951"/>
            <a:ext cx="4981651" cy="771754"/>
          </a:xfrm>
          <a:prstGeom prst="roundRect">
            <a:avLst>
              <a:gd name="adj" fmla="val 12322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033626" y="8658454"/>
            <a:ext cx="46387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$2,382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2033626" y="9001354"/>
            <a:ext cx="46387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6개월 총액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064654" y="8524951"/>
            <a:ext cx="4981651" cy="771754"/>
          </a:xfrm>
          <a:prstGeom prst="roundRect">
            <a:avLst>
              <a:gd name="adj" fmla="val 12322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235647" y="8658454"/>
            <a:ext cx="46387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$1,997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235647" y="9001354"/>
            <a:ext cx="46387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일시불 총액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12266676" y="8524951"/>
            <a:ext cx="4981651" cy="771754"/>
          </a:xfrm>
          <a:prstGeom prst="roundRect">
            <a:avLst>
              <a:gd name="adj" fmla="val 1232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2437669" y="8658454"/>
            <a:ext cx="46387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$385 절약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12437669" y="9001354"/>
            <a:ext cx="46387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일시불이 더 합리적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948965" y="304495"/>
            <a:ext cx="224485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16 · RISK REVERSAL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429000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4290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⑪ 환불 보장 — 위험 역전(Risk Reversal) 기술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 무조건 환불 보장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경쟁자의 까다로운 환불을 은연중 비교하면서 자신의 쉬운 환불을 대비시킵니다 — 직접 경쟁자를 공격하지 않고도 차별화.</a:t>
            </a:r>
            <a:endParaRPr lang="en-US" sz="1500" dirty="0"/>
          </a:p>
        </p:txBody>
      </p:sp>
      <p:pic>
        <p:nvPicPr>
          <p:cNvPr id="7" name="Image 0" descr="gen-dedup-9d1b072ba24e1de6dbc3b53608c1c7b1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pic>
        <p:nvPicPr>
          <p:cNvPr id="8" name="Image 1" descr="gen-dedup-48c3b1622de54226cbe7d6df937802fc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761695" y="3047695"/>
            <a:ext cx="16763695" cy="3657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82458" y="3524098"/>
            <a:ext cx="2723998" cy="333756"/>
          </a:xfrm>
          <a:prstGeom prst="roundRect">
            <a:avLst>
              <a:gd name="adj" fmla="val 11507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82458" y="3524098"/>
            <a:ext cx="27249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177800" bIns="76200" rtlCol="0" anchor="ctr"/>
          <a:lstStyle/>
          <a:p>
            <a:pPr algn="ctr" indent="0" marL="0">
              <a:buNone/>
            </a:pPr>
            <a:r>
              <a:rPr lang="en-US" sz="900" b="1" spc="225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MONEY-BACK GUARANTEE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333195" y="3991356"/>
            <a:ext cx="15621610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500" dirty="0"/>
          </a:p>
        </p:txBody>
      </p:sp>
      <p:sp>
        <p:nvSpPr>
          <p:cNvPr id="12" name="Text 8"/>
          <p:cNvSpPr txBox="1"/>
          <p:nvPr/>
        </p:nvSpPr>
        <p:spPr>
          <a:xfrm>
            <a:off x="1333195" y="5400446"/>
            <a:ext cx="15621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spc="225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DAYS · FULL REFUND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1333195" y="5971946"/>
            <a:ext cx="15621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2개 모듈을 보고 "이건 나한테 맞지 않다"고 느끼시면 — 이유 없이 전액 환불.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1695" y="6286500"/>
            <a:ext cx="11811305" cy="1466698"/>
          </a:xfrm>
          <a:prstGeom prst="roundRect">
            <a:avLst>
              <a:gd name="adj" fmla="val 9102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04595" y="6581851"/>
            <a:ext cx="914400" cy="247802"/>
          </a:xfrm>
          <a:prstGeom prst="roundRect">
            <a:avLst>
              <a:gd name="adj" fmla="val 15498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104595" y="6581851"/>
            <a:ext cx="9144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원문 인용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1104595" y="6943954"/>
            <a:ext cx="111255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 know other people make you jump through a bunch of hoops and prove you've watched all the videos and done all the homework. </a:t>
            </a:r>
            <a:pPr algn="l" indent="0" marL="0">
              <a:buNone/>
            </a:pPr>
            <a:r>
              <a:rPr lang="en-US" sz="1200" b="1" i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That's not how we roll… You have a full 14 days… just let us know and we'll gladly refund your money. No hassles.</a:t>
            </a:r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2954305" y="6286500"/>
            <a:ext cx="4572000" cy="2152498"/>
          </a:xfrm>
          <a:prstGeom prst="roundRect">
            <a:avLst>
              <a:gd name="adj" fmla="val 6202"/>
            </a:avLst>
          </a:prstGeom>
          <a:solidFill>
            <a:srgbClr val="FFFBEB"/>
          </a:solidFill>
          <a:ln/>
        </p:spPr>
      </p:sp>
      <p:sp>
        <p:nvSpPr>
          <p:cNvPr id="19" name="Shape 15"/>
          <p:cNvSpPr/>
          <p:nvPr/>
        </p:nvSpPr>
        <p:spPr>
          <a:xfrm>
            <a:off x="12954305" y="6286500"/>
            <a:ext cx="47549" cy="2152498"/>
          </a:xfrm>
          <a:prstGeom prst="roundRect">
            <a:avLst>
              <a:gd name="adj" fmla="val 280768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3267944" y="6515100"/>
            <a:ext cx="39913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14일의 계산된 설계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3267944" y="6801307"/>
            <a:ext cx="3991356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짧지도, 너무 길지도 않은 위험 제거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13267944" y="7647127"/>
            <a:ext cx="39913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짧으면 위험 제거 부족 / 길면 환불률 상승. 6주 코스에서 14일은 </a:t>
            </a:r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"첫 모듈을 충분히 경험할 시간이면서도 전체 콘텐츠를 소비하기엔 부족한 시간"</a:t>
            </a:r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설계됨.</a:t>
            </a:r>
            <a:endParaRPr lang="en-US" sz="900" dirty="0"/>
          </a:p>
        </p:txBody>
      </p:sp>
      <p:pic>
        <p:nvPicPr>
          <p:cNvPr id="23" name="Image 2" descr="gen-dedup-e3671d659dbbf921cdb8c70ee938e099.png">    </p:cNvPr>
          <p:cNvPicPr>
            <a:picLocks noChangeAspect="1"/>
          </p:cNvPicPr>
          <p:nvPr/>
        </p:nvPicPr>
        <p:blipFill>
          <a:blip r:embed="rId3"/>
          <a:srcRect l="-7" r="-7" t="0" b="0"/>
          <a:stretch/>
        </p:blipFill>
        <p:spPr>
          <a:xfrm>
            <a:off x="761695" y="8515807"/>
            <a:ext cx="16763695" cy="100949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47902" y="8734349"/>
            <a:ext cx="2076602" cy="247802"/>
          </a:xfrm>
          <a:prstGeom prst="roundRect">
            <a:avLst>
              <a:gd name="adj" fmla="val 15498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47902" y="8734349"/>
            <a:ext cx="20766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한국화 적용 · KLP 8주 클래스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047902" y="9058046"/>
            <a:ext cx="16193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"증명서류도, 완료 확인도, 설명도 필요 없습니다. </a:t>
            </a:r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카카오톡으로 '환불해주세요' 세 글자만 보내세요. 영업일 기준 2일 이내에 처리됩니다.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160752" y="304495"/>
            <a:ext cx="305866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16 · PERSONAL LETTER CLOSE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4105656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4105656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⑫ 마지막 개인 편지 — 모든 논리가 끝난 뒤, 감정으로 마무리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"Random Tuesday afternoon"의 기억 가능성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 디테일이 기억 가능성(Memorability)을 높이고, 2인칭 마감이 친밀감을 최대화합니다.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pic>
        <p:nvPicPr>
          <p:cNvPr id="8" name="Image 1" descr="gen-dedup-8fe74bc0dcf13ffbad08f27173783015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761695" y="3238805"/>
            <a:ext cx="10477195" cy="434888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80744" y="3715207"/>
            <a:ext cx="4429354" cy="267005"/>
          </a:xfrm>
          <a:prstGeom prst="roundRect">
            <a:avLst>
              <a:gd name="adj" fmla="val 1438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380744" y="3715207"/>
            <a:ext cx="442935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800" b="1" spc="225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ORIGINAL · JEFF WALKER'S CLOSING LETTER · 1996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380744" y="4134002"/>
            <a:ext cx="928756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"When I pushed the send button on my very first online business on a </a:t>
            </a:r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 Tuesday afternoon in August 1996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I didn't have any great expectations…"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380744" y="4849978"/>
            <a:ext cx="928756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had built a tiny list. I had written emails I wasn't sure anyone would read. I had no idea whether what I was about to do would work.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380744" y="5565953"/>
            <a:ext cx="92875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 I pushed the button anyway. </a:t>
            </a:r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 it worked. It could happen for you, too.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380744" y="5991149"/>
            <a:ext cx="9973361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doesn't require genius. It doesn't require luck. It requires structure — and the willingness to take the first, small step.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80744" y="6510528"/>
            <a:ext cx="928664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380744" y="6691579"/>
            <a:ext cx="92875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Jeff Walker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380744" y="6920179"/>
            <a:ext cx="92875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Product Launch Formula · 2026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1239805" y="3238805"/>
            <a:ext cx="6286500" cy="1248156"/>
          </a:xfrm>
          <a:prstGeom prst="roundRect">
            <a:avLst>
              <a:gd name="adj" fmla="val 1069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487607" y="3467405"/>
            <a:ext cx="800100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487607" y="3467405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마지막인가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11487607" y="3791102"/>
            <a:ext cx="57918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논리적 설득이 끝난 후, 감정으로 마감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1487607" y="4090111"/>
            <a:ext cx="62983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26단계에 걸친 분석, 데이터, 후기, 보너스 — 그 모든 것을 통과한 뒤 마지막 1분은 감정이 결정합니다.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1239805" y="4618634"/>
            <a:ext cx="6286500" cy="1248156"/>
          </a:xfrm>
          <a:prstGeom prst="roundRect">
            <a:avLst>
              <a:gd name="adj" fmla="val 10696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487607" y="4847234"/>
            <a:ext cx="1123798" cy="228600"/>
          </a:xfrm>
          <a:prstGeom prst="roundRect">
            <a:avLst>
              <a:gd name="adj" fmla="val 16800"/>
            </a:avLst>
          </a:prstGeom>
          <a:solidFill>
            <a:srgbClr val="1E40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487607" y="4847234"/>
            <a:ext cx="11247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구체적 디테일인가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1487607" y="5170932"/>
            <a:ext cx="57918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"random Tuesday afternoon" — 기억 가능성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11487607" y="5469941"/>
            <a:ext cx="57918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추상적 시간("1996년 여름")보다 구체적 디테일이 기억에 박힙니다. 스토리텔링의 기본 원칙.</a:t>
            </a:r>
            <a:endParaRPr lang="en-US" sz="900" dirty="0"/>
          </a:p>
        </p:txBody>
      </p:sp>
      <p:pic>
        <p:nvPicPr>
          <p:cNvPr id="28" name="Image 2" descr="gen-dedup-31b99f3ea4a04a18b6c794b8a165eb2a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11239805" y="5999378"/>
            <a:ext cx="6286500" cy="1208837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1468405" y="6208776"/>
            <a:ext cx="580644" cy="228600"/>
          </a:xfrm>
          <a:prstGeom prst="roundRect">
            <a:avLst>
              <a:gd name="adj" fmla="val 16800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1468405" y="6208776"/>
            <a:ext cx="5815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11468405" y="6532474"/>
            <a:ext cx="5829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"It could happen for you, too."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1468405" y="6831482"/>
            <a:ext cx="607527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독자에게 직접 말을 거는 2인칭 마감 — 브라우저가 페이지를 닫는 마지막 0.1초에 가장 강한 메시지.</a:t>
            </a:r>
            <a:endParaRPr lang="en-US" sz="900" dirty="0"/>
          </a:p>
        </p:txBody>
      </p:sp>
      <p:pic>
        <p:nvPicPr>
          <p:cNvPr id="33" name="Image 3" descr="gen-dedup-429027587f427cb8af6cfa0e5ba3e5c8.png">    </p:cNvPr>
          <p:cNvPicPr>
            <a:picLocks noChangeAspect="1"/>
          </p:cNvPicPr>
          <p:nvPr/>
        </p:nvPicPr>
        <p:blipFill>
          <a:blip r:embed="rId4"/>
          <a:srcRect l="-18" r="-18" t="0" b="0"/>
          <a:stretch/>
        </p:blipFill>
        <p:spPr>
          <a:xfrm>
            <a:off x="761695" y="8417966"/>
            <a:ext cx="16763695" cy="110642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8128102" y="8656625"/>
            <a:ext cx="2038198" cy="247802"/>
          </a:xfrm>
          <a:prstGeom prst="roundRect">
            <a:avLst>
              <a:gd name="adj" fmla="val 15498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128102" y="8656625"/>
            <a:ext cx="20391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GROWTHAI.KR 한국화 결론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1067105" y="8999525"/>
            <a:ext cx="161547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"구조는 여기 있습니다. 다음은 여러분의 차례입니다." — 운영자 드림,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KLP 8주 클래스 오픈 알림 받기 →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61082" y="304495"/>
            <a:ext cx="325435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16 · TOP 5 IMMEDIATE ACTIONS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381451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3814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⑬ GrowthAI.kr이 당장 훔쳐야 할 기법 TOP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4287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우선순위별 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5대 즉시 적용 기법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PLF의 14개 섹션에서 GrowthAI.kr에 즉시 옮겨 붙일 수 있는 가장 효과적인 5가지만 추렸습니다.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3047695"/>
            <a:ext cx="16763695" cy="1485900"/>
          </a:xfrm>
          <a:prstGeom prst="roundRect">
            <a:avLst>
              <a:gd name="adj" fmla="val 898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9" name="Image 1" descr="gen-dedup-52165a73261822b8bc9c4720e2b3939c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780898" y="3066898"/>
            <a:ext cx="1143000" cy="1440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48817" y="3453689"/>
            <a:ext cx="6108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1196950" y="3968496"/>
            <a:ext cx="3145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190902" y="3295498"/>
            <a:ext cx="1505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취약한 첫 숫자 공개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190902" y="3619195"/>
            <a:ext cx="1505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운영자의 첫 번째 결제 금액을 공개하세요.  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크지 않을수록 좋습니다. 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190902" y="3914546"/>
            <a:ext cx="15049195" cy="371246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2190902" y="3914546"/>
            <a:ext cx="28346" cy="371246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90902" y="3914546"/>
            <a:ext cx="150501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"첫 번째 주에 94,000원이 결제됐습니다"는 "첫 달에 1,000만 원"보다 더 강한 공감.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61695" y="4659782"/>
            <a:ext cx="16763695" cy="1485900"/>
          </a:xfrm>
          <a:prstGeom prst="roundRect">
            <a:avLst>
              <a:gd name="adj" fmla="val 898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18" name="Image 2" descr="gen-dedup-0b101d37669c84b55c3fdffe768b1a13.png">    </p:cNvPr>
          <p:cNvPicPr>
            <a:picLocks noChangeAspect="1"/>
          </p:cNvPicPr>
          <p:nvPr/>
        </p:nvPicPr>
        <p:blipFill>
          <a:blip r:embed="rId3"/>
          <a:srcRect l="-1" r="-1" t="0" b="0"/>
          <a:stretch/>
        </p:blipFill>
        <p:spPr>
          <a:xfrm>
            <a:off x="780898" y="4678985"/>
            <a:ext cx="1143000" cy="1440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48817" y="5065776"/>
            <a:ext cx="6108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1196950" y="5579669"/>
            <a:ext cx="3145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2190902" y="4907585"/>
            <a:ext cx="1505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 + 도시 + 수치 후기 형식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2190902" y="5231282"/>
            <a:ext cx="1505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익명 후기를  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한 개도 허용하지 마세요. 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 모든 후기에 이름, 직업, 지역, 전/후 수치가 있어야 합니다. 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190902" y="5526634"/>
            <a:ext cx="15049195" cy="371246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/>
        </p:spPr>
      </p:sp>
      <p:sp>
        <p:nvSpPr>
          <p:cNvPr id="24" name="Shape 19"/>
          <p:cNvSpPr/>
          <p:nvPr/>
        </p:nvSpPr>
        <p:spPr>
          <a:xfrm>
            <a:off x="2190902" y="5526634"/>
            <a:ext cx="28346" cy="371246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190902" y="5526634"/>
            <a:ext cx="150501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김OO / 프리랜서 디자이너 / 부산 / 첫 런치 3주 후 첫 주에 결제 94만원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61695" y="6270955"/>
            <a:ext cx="16763695" cy="1485900"/>
          </a:xfrm>
          <a:prstGeom prst="roundRect">
            <a:avLst>
              <a:gd name="adj" fmla="val 898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27" name="Image 3" descr="gen-dedup-0b101d37669c84b55c3fdffe768b1a13.png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780898" y="6290158"/>
            <a:ext cx="1143000" cy="14401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48817" y="6676949"/>
            <a:ext cx="6108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#3</a:t>
            </a:r>
            <a:endParaRPr lang="en-US" sz="3600" dirty="0"/>
          </a:p>
        </p:txBody>
      </p:sp>
      <p:sp>
        <p:nvSpPr>
          <p:cNvPr id="29" name="Text 23"/>
          <p:cNvSpPr txBox="1"/>
          <p:nvPr/>
        </p:nvSpPr>
        <p:spPr>
          <a:xfrm>
            <a:off x="1196950" y="7191756"/>
            <a:ext cx="3145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2190902" y="6518758"/>
            <a:ext cx="1505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스택 + 개별 가격 표시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2190902" y="6842455"/>
            <a:ext cx="1505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보너스를 그냥 나열하지 말고,  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각 보너스에 "₩49,000 상당" 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 식으로 가격을 붙이세요. 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190902" y="7137806"/>
            <a:ext cx="15049195" cy="371246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/>
        </p:spPr>
      </p:sp>
      <p:sp>
        <p:nvSpPr>
          <p:cNvPr id="33" name="Shape 27"/>
          <p:cNvSpPr/>
          <p:nvPr/>
        </p:nvSpPr>
        <p:spPr>
          <a:xfrm>
            <a:off x="2190902" y="7137806"/>
            <a:ext cx="28346" cy="371246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2190902" y="7137806"/>
            <a:ext cx="150501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₩510,000 총 가치 - ₩197,000 실제 가격 = ₩313,000 절약 (Kahneman 손실 회피)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61695" y="7883042"/>
            <a:ext cx="16763695" cy="1485900"/>
          </a:xfrm>
          <a:prstGeom prst="roundRect">
            <a:avLst>
              <a:gd name="adj" fmla="val 898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36" name="Image 4" descr="gen-dedup-0b101d37669c84b55c3fdffe768b1a13.png">    </p:cNvPr>
          <p:cNvPicPr>
            <a:picLocks noChangeAspect="1"/>
          </p:cNvPicPr>
          <p:nvPr/>
        </p:nvPicPr>
        <p:blipFill>
          <a:blip r:embed="rId5"/>
          <a:srcRect l="-1" r="-1" t="0" b="0"/>
          <a:stretch/>
        </p:blipFill>
        <p:spPr>
          <a:xfrm>
            <a:off x="780898" y="7902245"/>
            <a:ext cx="1143000" cy="1440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48817" y="8289036"/>
            <a:ext cx="6108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#4</a:t>
            </a:r>
            <a:endParaRPr lang="en-US" sz="3600" dirty="0"/>
          </a:p>
        </p:txBody>
      </p:sp>
      <p:sp>
        <p:nvSpPr>
          <p:cNvPr id="38" name="Text 31"/>
          <p:cNvSpPr txBox="1"/>
          <p:nvPr/>
        </p:nvSpPr>
        <p:spPr>
          <a:xfrm>
            <a:off x="1196950" y="8802929"/>
            <a:ext cx="3145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4순위</a:t>
            </a:r>
            <a:endParaRPr lang="en-US" sz="800" dirty="0"/>
          </a:p>
        </p:txBody>
      </p:sp>
      <p:sp>
        <p:nvSpPr>
          <p:cNvPr id="39" name="Text 32"/>
          <p:cNvSpPr txBox="1"/>
          <p:nvPr/>
        </p:nvSpPr>
        <p:spPr>
          <a:xfrm>
            <a:off x="2190902" y="8130845"/>
            <a:ext cx="1505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퍼소나별 섹션 분리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2190902" y="8454542"/>
            <a:ext cx="1505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"이런 분께 맞습니다" 단순 리스트가 아니라,  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각 타깃에게 별도의 문제 제기-해결-사례 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를 쓰세요. 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2190902" y="8749894"/>
            <a:ext cx="15049195" cy="371246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/>
        </p:spPr>
      </p:sp>
      <p:sp>
        <p:nvSpPr>
          <p:cNvPr id="42" name="Shape 35"/>
          <p:cNvSpPr/>
          <p:nvPr/>
        </p:nvSpPr>
        <p:spPr>
          <a:xfrm>
            <a:off x="2190902" y="8749894"/>
            <a:ext cx="28346" cy="371246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2190902" y="8749894"/>
            <a:ext cx="150501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강의 만들었는데 아무도 안 사는 분 / 블로그 있는데 결제가 없는 분 / 1:1 코칭 시간 한계 / 부업 시작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761695" y="9494215"/>
            <a:ext cx="16763695" cy="1485900"/>
          </a:xfrm>
          <a:prstGeom prst="roundRect">
            <a:avLst>
              <a:gd name="adj" fmla="val 8985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pic>
        <p:nvPicPr>
          <p:cNvPr id="45" name="Image 5" descr="gen-dedup-0b101d37669c84b55c3fdffe768b1a13.png">    </p:cNvPr>
          <p:cNvPicPr>
            <a:picLocks noChangeAspect="1"/>
          </p:cNvPicPr>
          <p:nvPr/>
        </p:nvPicPr>
        <p:blipFill>
          <a:blip r:embed="rId6"/>
          <a:srcRect l="-1" r="-1" t="0" b="0"/>
          <a:stretch/>
        </p:blipFill>
        <p:spPr>
          <a:xfrm>
            <a:off x="780898" y="9513418"/>
            <a:ext cx="1143000" cy="144018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048817" y="9900209"/>
            <a:ext cx="6108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#5</a:t>
            </a:r>
            <a:endParaRPr lang="en-US" sz="3600" dirty="0"/>
          </a:p>
        </p:txBody>
      </p:sp>
      <p:sp>
        <p:nvSpPr>
          <p:cNvPr id="47" name="Text 39"/>
          <p:cNvSpPr txBox="1"/>
          <p:nvPr/>
        </p:nvSpPr>
        <p:spPr>
          <a:xfrm>
            <a:off x="1196950" y="10415016"/>
            <a:ext cx="3145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>
                    <a:alpha val="9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5순위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>
            <a:off x="2190902" y="9742018"/>
            <a:ext cx="1505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낼 것인가" 프레임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2190902" y="10065715"/>
            <a:ext cx="1505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"살 것인가 말 것인가"가 아니라  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"월 구독 vs 일시불" 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highlight>
                  <a:srgbClr val="FFFFF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 로 선택지를 설계하세요. 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2190902" y="10361066"/>
            <a:ext cx="15049195" cy="371246"/>
          </a:xfrm>
          <a:prstGeom prst="roundRect">
            <a:avLst>
              <a:gd name="adj" fmla="val 15517"/>
            </a:avLst>
          </a:prstGeom>
          <a:solidFill>
            <a:srgbClr val="F8FAFC"/>
          </a:solidFill>
          <a:ln/>
        </p:spPr>
      </p:sp>
      <p:sp>
        <p:nvSpPr>
          <p:cNvPr id="51" name="Shape 43"/>
          <p:cNvSpPr/>
          <p:nvPr/>
        </p:nvSpPr>
        <p:spPr>
          <a:xfrm>
            <a:off x="2190902" y="10361066"/>
            <a:ext cx="28346" cy="371246"/>
          </a:xfrm>
          <a:prstGeom prst="roundRect">
            <a:avLst>
              <a:gd name="adj" fmla="val 20322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2190902" y="10361066"/>
            <a:ext cx="15050110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01600" rIns="139700" bIns="1016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Most Popular 태그를 일시불에 + 분할 합계를 일시불보다 비싸게 설계 = 자동 일시불 선택</a:t>
            </a:r>
            <a:endParaRPr lang="en-US" sz="900" dirty="0"/>
          </a:p>
        </p:txBody>
      </p:sp>
      <p:pic>
        <p:nvPicPr>
          <p:cNvPr id="53" name="Image 6" descr="gen-dedup-7419c5b362626d18040b39b1865d1aac.png">    </p:cNvPr>
          <p:cNvPicPr>
            <a:picLocks noChangeAspect="1"/>
          </p:cNvPicPr>
          <p:nvPr/>
        </p:nvPicPr>
        <p:blipFill>
          <a:blip r:embed="rId7"/>
          <a:srcRect l="-4" r="-4" t="0" b="0"/>
          <a:stretch/>
        </p:blipFill>
        <p:spPr>
          <a:xfrm>
            <a:off x="761695" y="8128102"/>
            <a:ext cx="16763695" cy="1397203"/>
          </a:xfrm>
          <a:prstGeom prst="rect">
            <a:avLst/>
          </a:prstGeom>
        </p:spPr>
      </p:pic>
      <p:sp>
        <p:nvSpPr>
          <p:cNvPr id="54" name="Shape 45"/>
          <p:cNvSpPr/>
          <p:nvPr/>
        </p:nvSpPr>
        <p:spPr>
          <a:xfrm>
            <a:off x="1067105" y="8365846"/>
            <a:ext cx="1248156" cy="247802"/>
          </a:xfrm>
          <a:prstGeom prst="roundRect">
            <a:avLst>
              <a:gd name="adj" fmla="val 15498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1067105" y="8365846"/>
            <a:ext cx="12481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핵심 원칙 한 줄</a:t>
            </a:r>
            <a:endParaRPr lang="en-US" sz="800" dirty="0"/>
          </a:p>
        </p:txBody>
      </p:sp>
      <p:sp>
        <p:nvSpPr>
          <p:cNvPr id="56" name="Text 47"/>
          <p:cNvSpPr txBox="1"/>
          <p:nvPr/>
        </p:nvSpPr>
        <p:spPr>
          <a:xfrm>
            <a:off x="1067105" y="8708746"/>
            <a:ext cx="161547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Walker가 30년간 증명한 것 — </a:t>
            </a:r>
            <a:pPr algn="l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"구조가 재능을 이긴다"</a:t>
            </a:r>
            <a:endParaRPr lang="en-US" sz="1800" dirty="0"/>
          </a:p>
        </p:txBody>
      </p:sp>
      <p:sp>
        <p:nvSpPr>
          <p:cNvPr id="57" name="Text 48"/>
          <p:cNvSpPr txBox="1"/>
          <p:nvPr/>
        </p:nvSpPr>
        <p:spPr>
          <a:xfrm>
            <a:off x="1067105" y="9081821"/>
            <a:ext cx="16154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GrowthAI.kr은 한국에서 이 구조를 가장 먼저, 가장 완벽하게 실행하는 곳이 되는 것이 포지션입니다.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019934" y="304495"/>
            <a:ext cx="32561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16 · KOREA WEAKNESS + VISION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61695" y="761695"/>
            <a:ext cx="3933749" cy="295351"/>
          </a:xfrm>
          <a:prstGeom prst="roundRect">
            <a:avLst>
              <a:gd name="adj" fmla="val 1300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695" y="761695"/>
            <a:ext cx="39346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⑭ PLF 페이지의 유일한 약점 — 한국 시장 적용 시 보완점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218895"/>
            <a:ext cx="16162934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00" b="1" spc="-15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완벽해 보이는 페이지도 </a:t>
            </a:r>
            <a:pPr algn="l" indent="0" marL="0">
              <a:buNone/>
            </a:pPr>
            <a:r>
              <a:rPr lang="en-US" sz="4300" b="1" spc="-150" kern="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시장에서는 보완이 필요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095805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PLF는 서구권의 긴 세일즈 레터 문화를 전제로 설계되었습니다. 한국 모바일 환경에서는 3가지 보완이 필수입니다.</a:t>
            </a:r>
            <a:endParaRPr lang="en-US" sz="1500" dirty="0"/>
          </a:p>
        </p:txBody>
      </p:sp>
      <p:pic>
        <p:nvPicPr>
          <p:cNvPr id="7" name="Image 0" descr="gen-dedup-c01c5085af9fee06a6d024abceae7a9b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2704795"/>
            <a:ext cx="761695" cy="384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3047695"/>
            <a:ext cx="5477256" cy="2628900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1695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9498" y="3323844"/>
            <a:ext cx="533095" cy="533095"/>
          </a:xfrm>
          <a:prstGeom prst="roundRect">
            <a:avLst>
              <a:gd name="adj" fmla="val 2504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9498" y="3323844"/>
            <a:ext cx="534010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009498" y="3991356"/>
            <a:ext cx="49816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 ① — 페이지가 길다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09498" y="4327855"/>
            <a:ext cx="4981651" cy="590702"/>
          </a:xfrm>
          <a:prstGeom prst="roundRect">
            <a:avLst>
              <a:gd name="adj" fmla="val 12848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9498" y="4327855"/>
            <a:ext cx="498165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14300" rIns="1397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</a:t>
            </a:r>
            <a:pPr algn="l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한국 소비자는 모바일 스크롤 피로가 더 빠름. 카카오·인스타 스토리에 익숙한 한국 타깃에게는 14개 섹션이 부담.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09498" y="5013655"/>
            <a:ext cx="4981651" cy="409651"/>
          </a:xfrm>
          <a:prstGeom prst="roundRect">
            <a:avLst>
              <a:gd name="adj" fmla="val 1852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9498" y="5013655"/>
            <a:ext cx="49816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14300" rIns="1397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해결: 핵심 섹션 9개로 축약 + FAQ는 별도 페이지로 분리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7201" y="3047695"/>
            <a:ext cx="5477256" cy="2628900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7201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55003" y="3323844"/>
            <a:ext cx="533095" cy="533095"/>
          </a:xfrm>
          <a:prstGeom prst="roundRect">
            <a:avLst>
              <a:gd name="adj" fmla="val 2504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55003" y="3323844"/>
            <a:ext cx="534010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🎥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655003" y="3991356"/>
            <a:ext cx="49816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 ② — 영상이 없다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55003" y="4327855"/>
            <a:ext cx="4981651" cy="590702"/>
          </a:xfrm>
          <a:prstGeom prst="roundRect">
            <a:avLst>
              <a:gd name="adj" fmla="val 12848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55003" y="4327855"/>
            <a:ext cx="498165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14300" rIns="1397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</a:t>
            </a:r>
            <a:pPr algn="l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한국인의 YouTube 일 평균 시청 시간 161.5분. 텍스트 중심 긴 세일즈 페이지는 비효율.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655003" y="5013655"/>
            <a:ext cx="4981651" cy="409651"/>
          </a:xfrm>
          <a:prstGeom prst="roundRect">
            <a:avLst>
              <a:gd name="adj" fmla="val 1852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55003" y="5013655"/>
            <a:ext cx="49816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14300" rIns="1397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해결: 3-5분짜리 설명 영상을 상단에 배치 (PLF 영상 도입부)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2052706" y="3047695"/>
            <a:ext cx="5477256" cy="2628900"/>
          </a:xfrm>
          <a:prstGeom prst="roundRect">
            <a:avLst>
              <a:gd name="adj" fmla="val 507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f172a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2052706" y="3047695"/>
            <a:ext cx="5477256" cy="47549"/>
          </a:xfrm>
          <a:prstGeom prst="roundRect">
            <a:avLst>
              <a:gd name="adj" fmla="val 280768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299594" y="3323844"/>
            <a:ext cx="533095" cy="533095"/>
          </a:xfrm>
          <a:prstGeom prst="roundRect">
            <a:avLst>
              <a:gd name="adj" fmla="val 2504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2299594" y="3323844"/>
            <a:ext cx="534010" cy="5340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12299594" y="3991356"/>
            <a:ext cx="49816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약점 ③ — 카카오 연동 없음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2299594" y="4327855"/>
            <a:ext cx="4981651" cy="409651"/>
          </a:xfrm>
          <a:prstGeom prst="roundRect">
            <a:avLst>
              <a:gd name="adj" fmla="val 18527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2299594" y="4327855"/>
            <a:ext cx="49816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14300" rIns="1397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</a:t>
            </a:r>
            <a:pPr algn="l"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PLF는 이메일 기반이지만 한국에서는 카카오 알림 효율성이 압도적.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2299594" y="4832604"/>
            <a:ext cx="4981651" cy="409651"/>
          </a:xfrm>
          <a:prstGeom prst="roundRect">
            <a:avLst>
              <a:gd name="adj" fmla="val 1852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2299594" y="4832604"/>
            <a:ext cx="4981651" cy="4096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14300" rIns="139700" bIns="1143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해결: "카트 오픈 알림은 카카오로" — 한국화 필수 전략</a:t>
            </a:r>
            <a:endParaRPr lang="en-US" sz="900" dirty="0"/>
          </a:p>
        </p:txBody>
      </p:sp>
      <p:pic>
        <p:nvPicPr>
          <p:cNvPr id="35" name="Image 1" descr="gen-dedup-d2eebb52c35be0209bc44bbd06529352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761695" y="6967728"/>
            <a:ext cx="16763695" cy="2557577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7990027" y="7253021"/>
            <a:ext cx="2314346" cy="267005"/>
          </a:xfrm>
          <a:prstGeom prst="roundRect">
            <a:avLst>
              <a:gd name="adj" fmla="val 14384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990027" y="7253021"/>
            <a:ext cx="231526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ctr" indent="0" marL="0">
              <a:buNone/>
            </a:pPr>
            <a:r>
              <a:rPr lang="en-US" sz="800" b="1" spc="225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결론 &amp; VISION 2026-2030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1143000" y="7653528"/>
            <a:ext cx="1600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Jeff Walker의 PLF 세일즈 페이지는 </a:t>
            </a:r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30년간 검증된 설득 심리학의 집약체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입니다.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1143000" y="8186623"/>
            <a:ext cx="1600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GrowthAI.kr이 이 구조를 완전히 이해하고 </a:t>
            </a:r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시장에 맞게 번역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수 있다면,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1143000" y="8564270"/>
            <a:ext cx="16002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 자체가 가르칠 수 있는 가장 강력한 콘텐츠이자 동시에 </a:t>
            </a:r>
            <a:pPr algn="ctr" indent="0" marL="0">
              <a:buNone/>
            </a:pPr>
            <a:r>
              <a:rPr lang="en-US" sz="1900" b="1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GrowthAI.kr 자신의 세일즈 페이지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됩니다.</a:t>
            </a:r>
            <a:endParaRPr lang="en-US" sz="1900" dirty="0"/>
          </a:p>
        </p:txBody>
      </p:sp>
      <p:sp>
        <p:nvSpPr>
          <p:cNvPr id="41" name="Text 37"/>
          <p:cNvSpPr txBox="1"/>
          <p:nvPr/>
        </p:nvSpPr>
        <p:spPr>
          <a:xfrm>
            <a:off x="1143000" y="9025128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사명 — 한국판 Jeff Walker가 되어, 한국 1인 창업자가 잠자는 시간에도 자동 판매기를 돌리는 환경을 만든다.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2026-07-24T16:36:20Z</dcterms:created>
  <dcterms:modified xsi:type="dcterms:W3CDTF">2026-07-24T16:36:20Z</dcterms:modified>
</cp:coreProperties>
</file>